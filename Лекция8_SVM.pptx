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356" r:id="rId3"/>
    <p:sldId id="357" r:id="rId4"/>
    <p:sldId id="360" r:id="rId5"/>
    <p:sldId id="362" r:id="rId6"/>
    <p:sldId id="358" r:id="rId7"/>
    <p:sldId id="401" r:id="rId8"/>
    <p:sldId id="402" r:id="rId9"/>
    <p:sldId id="359" r:id="rId10"/>
    <p:sldId id="365" r:id="rId11"/>
    <p:sldId id="364" r:id="rId12"/>
    <p:sldId id="367" r:id="rId13"/>
    <p:sldId id="366" r:id="rId14"/>
    <p:sldId id="370" r:id="rId15"/>
    <p:sldId id="369" r:id="rId16"/>
    <p:sldId id="371" r:id="rId17"/>
    <p:sldId id="372" r:id="rId18"/>
    <p:sldId id="373" r:id="rId19"/>
    <p:sldId id="374" r:id="rId20"/>
    <p:sldId id="376" r:id="rId21"/>
    <p:sldId id="377" r:id="rId22"/>
    <p:sldId id="378" r:id="rId23"/>
    <p:sldId id="379" r:id="rId24"/>
    <p:sldId id="381" r:id="rId25"/>
    <p:sldId id="380" r:id="rId26"/>
    <p:sldId id="382" r:id="rId27"/>
    <p:sldId id="383" r:id="rId28"/>
    <p:sldId id="384" r:id="rId29"/>
    <p:sldId id="368" r:id="rId30"/>
    <p:sldId id="385" r:id="rId31"/>
    <p:sldId id="386" r:id="rId32"/>
    <p:sldId id="390" r:id="rId33"/>
    <p:sldId id="400" r:id="rId34"/>
    <p:sldId id="391" r:id="rId35"/>
    <p:sldId id="392" r:id="rId36"/>
    <p:sldId id="393" r:id="rId37"/>
    <p:sldId id="395" r:id="rId38"/>
    <p:sldId id="396" r:id="rId39"/>
    <p:sldId id="397" r:id="rId40"/>
    <p:sldId id="398" r:id="rId41"/>
    <p:sldId id="399" r:id="rId42"/>
    <p:sldId id="405" r:id="rId43"/>
    <p:sldId id="403" r:id="rId44"/>
    <p:sldId id="404" r:id="rId45"/>
    <p:sldId id="387" r:id="rId46"/>
    <p:sldId id="389" r:id="rId47"/>
    <p:sldId id="406" r:id="rId48"/>
    <p:sldId id="407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29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ED143F"/>
    <a:srgbClr val="D9D9D9"/>
    <a:srgbClr val="A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82557"/>
  </p:normalViewPr>
  <p:slideViewPr>
    <p:cSldViewPr snapToGrid="0">
      <p:cViewPr>
        <p:scale>
          <a:sx n="101" d="100"/>
          <a:sy n="101" d="100"/>
        </p:scale>
        <p:origin x="1480" y="320"/>
      </p:cViewPr>
      <p:guideLst>
        <p:guide pos="529"/>
        <p:guide pos="7129"/>
        <p:guide orient="horz" pos="799"/>
        <p:guide orient="horz" pos="3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C3053-9815-1E4E-9BD9-DDBDDF90C93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E2245-93E0-1D4C-AAD6-8F094239DE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12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54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837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15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080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739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015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221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075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373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456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69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111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559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358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447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83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786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823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135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6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169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945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190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705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156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4453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7833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991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2149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537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0739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0551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sz="1200" b="0" dirty="0">
                <a:solidFill>
                  <a:schemeClr val="tx1"/>
                </a:solidFill>
              </a:rPr>
              <a:t>Рамсей: модель экзогенного экономического роста с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условием трансверсальности (естественном условии запрета «финансовой пирамиды»).</a:t>
            </a:r>
            <a:endParaRPr lang="ru-RU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Модель поколений: </a:t>
            </a:r>
          </a:p>
          <a:p>
            <a:pPr algn="l"/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  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Нельзя занимать больше, чем сможешь вернуть.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 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Залоговое ограничение: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долг не должен превышать дисконтированную стоимость будущего дохода.</a:t>
            </a:r>
          </a:p>
          <a:p>
            <a:pPr algn="l"/>
            <a:r>
              <a:rPr lang="ru-RU" sz="1200" b="0" dirty="0">
                <a:solidFill>
                  <a:schemeClr val="tx1"/>
                </a:solidFill>
              </a:rPr>
              <a:t>Модель </a:t>
            </a:r>
            <a:r>
              <a:rPr lang="en-US" sz="1200" b="0" dirty="0">
                <a:solidFill>
                  <a:schemeClr val="tx1"/>
                </a:solidFill>
              </a:rPr>
              <a:t>q-</a:t>
            </a:r>
            <a:r>
              <a:rPr lang="ru-RU" sz="1200" b="0" dirty="0" err="1">
                <a:solidFill>
                  <a:schemeClr val="tx1"/>
                </a:solidFill>
              </a:rPr>
              <a:t>тобина</a:t>
            </a:r>
            <a:r>
              <a:rPr lang="ru-RU" sz="1200" b="0" dirty="0">
                <a:solidFill>
                  <a:schemeClr val="tx1"/>
                </a:solidFill>
              </a:rPr>
              <a:t>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инвестиции с издержками приспособления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 (инвестиции неотрицательны)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 Если инвестировать нельзя, появляется положительная теневая цена ограничения.</a:t>
            </a:r>
          </a:p>
          <a:p>
            <a:pPr algn="l"/>
            <a:endParaRPr lang="en-US" sz="1200" b="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chemeClr val="tx1"/>
                </a:solidFill>
              </a:rPr>
              <a:t>(</a:t>
            </a:r>
            <a:r>
              <a:rPr lang="ru-RU" sz="1200" b="0" dirty="0">
                <a:solidFill>
                  <a:schemeClr val="tx1"/>
                </a:solidFill>
              </a:rPr>
              <a:t>вспомним «условия дополняющей </a:t>
            </a:r>
            <a:r>
              <a:rPr lang="ru-RU" sz="1200" b="0" dirty="0" err="1">
                <a:solidFill>
                  <a:schemeClr val="tx1"/>
                </a:solidFill>
              </a:rPr>
              <a:t>нежесткости</a:t>
            </a:r>
            <a:r>
              <a:rPr lang="ru-RU" sz="1200" b="0" dirty="0">
                <a:solidFill>
                  <a:schemeClr val="tx1"/>
                </a:solidFill>
              </a:rPr>
              <a:t>», «теневы</a:t>
            </a:r>
            <a:r>
              <a:rPr lang="ru-RU" sz="1200" dirty="0"/>
              <a:t>е цены»)</a:t>
            </a:r>
            <a:endParaRPr lang="en-US" sz="1200" b="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160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001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 </a:t>
            </a:r>
            <a:r>
              <a:rPr lang="ru-RU" dirty="0"/>
              <a:t>как линейная комбинация наблюдений обучающей выборки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Svm</a:t>
            </a:r>
            <a:r>
              <a:rPr lang="en-US" dirty="0"/>
              <a:t> </a:t>
            </a:r>
            <a:r>
              <a:rPr lang="ru-RU" dirty="0"/>
              <a:t>для исследования обучающей выборки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502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548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7422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1526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653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3770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4481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1768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8649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2016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0662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847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дополнительная переменная, определяющая ширину отступа 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margin).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отличие от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C-SVM,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здесь отступ не фиксирован (равным 1), а оптимизируется;</a:t>
            </a:r>
            <a:endParaRPr lang="en-US" b="0" i="1" dirty="0">
              <a:solidFill>
                <a:srgbClr val="0F1115"/>
              </a:solidFill>
              <a:effectLst/>
              <a:latin typeface="KaTeX_Mat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ν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параметр, задающий компромисс между максимизацией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𝜌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ширины отступа) и минимизацией штрафа 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dirty="0">
                <a:solidFill>
                  <a:srgbClr val="0F1115"/>
                </a:solidFill>
                <a:effectLst/>
                <a:latin typeface="KaTeX_Size1"/>
              </a:rPr>
              <a:t>∑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ξ</a:t>
            </a:r>
            <a:r>
              <a:rPr lang="en" b="0" i="1" dirty="0" err="1">
                <a:solidFill>
                  <a:srgbClr val="0F1115"/>
                </a:solidFill>
                <a:effectLst/>
                <a:latin typeface="KaTeX_Math"/>
              </a:rPr>
              <a:t>i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Максимизация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𝜌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через член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−𝜈𝜌−</a:t>
            </a:r>
            <a:r>
              <a:rPr lang="el-GR" b="0" i="1" dirty="0" err="1">
                <a:solidFill>
                  <a:srgbClr val="0F1115"/>
                </a:solidFill>
                <a:effectLst/>
                <a:latin typeface="KaTeX_Math"/>
              </a:rPr>
              <a:t>νρ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)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способствует получению широкой разделяющей полосы, а штраф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1𝑛∑𝜉𝑖</a:t>
            </a:r>
            <a:r>
              <a:rPr lang="en" b="0" i="1" dirty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1​</a:t>
            </a:r>
            <a:r>
              <a:rPr lang="en" b="0" dirty="0">
                <a:solidFill>
                  <a:srgbClr val="0F1115"/>
                </a:solidFill>
                <a:effectLst/>
                <a:latin typeface="KaTeX_Size1"/>
              </a:rPr>
              <a:t>∑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ξ</a:t>
            </a:r>
            <a:r>
              <a:rPr lang="en" b="0" i="1" dirty="0" err="1">
                <a:solidFill>
                  <a:srgbClr val="0F1115"/>
                </a:solidFill>
                <a:effectLst/>
                <a:latin typeface="KaTeX_Math"/>
              </a:rPr>
              <a:t>i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ограничивает суммарные нарушения. Параметр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𝜈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ν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управляет этим балансом.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0762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дополнительная переменная, определяющая ширину отступа (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margin).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отличие от 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C-SVM,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здесь отступ не фиксирован (равным 1), а оптимизируется;</a:t>
            </a:r>
            <a:endParaRPr lang="en-US" b="0" i="1" dirty="0">
              <a:solidFill>
                <a:srgbClr val="0F1115"/>
              </a:solidFill>
              <a:effectLst/>
              <a:latin typeface="KaTeX_Mat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ν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параметр, задающий компромисс между максимизацией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𝜌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ширины отступа) и минимизацией штрафа 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dirty="0">
                <a:solidFill>
                  <a:srgbClr val="0F1115"/>
                </a:solidFill>
                <a:effectLst/>
                <a:latin typeface="KaTeX_Size1"/>
              </a:rPr>
              <a:t>∑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ξ</a:t>
            </a:r>
            <a:r>
              <a:rPr lang="en" b="0" i="1" dirty="0" err="1">
                <a:solidFill>
                  <a:srgbClr val="0F1115"/>
                </a:solidFill>
                <a:effectLst/>
                <a:latin typeface="KaTeX_Math"/>
              </a:rPr>
              <a:t>i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Максимизация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𝜌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через член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−𝜈𝜌−</a:t>
            </a:r>
            <a:r>
              <a:rPr lang="el-GR" b="0" i="1" dirty="0" err="1">
                <a:solidFill>
                  <a:srgbClr val="0F1115"/>
                </a:solidFill>
                <a:effectLst/>
                <a:latin typeface="KaTeX_Math"/>
              </a:rPr>
              <a:t>νρ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)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способствует получению широкой разделяющей полосы, а штраф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1𝑛∑𝜉𝑖</a:t>
            </a:r>
            <a:r>
              <a:rPr lang="en" b="0" i="1" dirty="0">
                <a:solidFill>
                  <a:srgbClr val="0F1115"/>
                </a:solidFill>
                <a:effectLst/>
                <a:latin typeface="KaTeX_Math"/>
              </a:rPr>
              <a:t>n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1​</a:t>
            </a:r>
            <a:r>
              <a:rPr lang="en" b="0" dirty="0">
                <a:solidFill>
                  <a:srgbClr val="0F1115"/>
                </a:solidFill>
                <a:effectLst/>
                <a:latin typeface="KaTeX_Size1"/>
              </a:rPr>
              <a:t>∑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ξ</a:t>
            </a:r>
            <a:r>
              <a:rPr lang="en" b="0" i="1" dirty="0" err="1">
                <a:solidFill>
                  <a:srgbClr val="0F1115"/>
                </a:solidFill>
                <a:effectLst/>
                <a:latin typeface="KaTeX_Math"/>
              </a:rPr>
              <a:t>i</a:t>
            </a:r>
            <a:r>
              <a:rPr lang="en" b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r>
              <a:rPr lang="e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ограничивает суммарные нарушения. Параметр </a:t>
            </a:r>
            <a:r>
              <a:rPr lang="ru-RU" b="0" dirty="0">
                <a:solidFill>
                  <a:srgbClr val="0F1115"/>
                </a:solidFill>
                <a:effectLst/>
                <a:latin typeface="KaTeX_Main"/>
              </a:rPr>
              <a:t>𝜈</a:t>
            </a:r>
            <a:r>
              <a:rPr lang="el-GR" b="0" i="1" dirty="0">
                <a:solidFill>
                  <a:srgbClr val="0F1115"/>
                </a:solidFill>
                <a:effectLst/>
                <a:latin typeface="KaTeX_Math"/>
              </a:rPr>
              <a:t>ν</a:t>
            </a:r>
            <a:r>
              <a:rPr lang="el-GR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управляет этим балансом.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117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46231-9C03-CE94-068F-CFAB113C2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91124A-995F-01ED-AFE4-84AC96400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FFF55B-4B3A-2FF6-B6FA-A89CF50A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32CD-8389-1245-995A-B0E3ED8B4398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5DA20A-9A53-C75D-C6D8-7A75C7E8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2E727-69AC-DD8E-F5BD-533EEC66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38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BA853-510C-E18D-5B46-9112CBDA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B28E6-81CD-FB55-A2A3-47D19503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4895B-34D8-40B8-A3B3-BE6B856A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101D-B688-AF43-B318-829C4377635C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828BC-E382-3A75-4215-97476114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4D8C6-7995-FD72-F048-A1CA193E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88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1FA66-294B-B899-60E8-C6EF802F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75719C-6075-DAD9-F8F5-9AE67B84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41E2A0-75A5-ED73-44B1-255AD7E7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8BC07-EB19-9F45-BE27-2963E9B0B48D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CAD8CE-DFE7-DF06-BDF5-362ADB72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1AE73-FC8C-D4E4-E76D-9279AFEC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88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6AAA2-A52F-193D-17F7-333C0434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F870E-CE80-9069-87C9-0A4E07796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D17865-93F8-3579-583D-C47BB59DC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7D613D-223A-1E1C-C08B-E6449ADC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68BB-A9D4-5641-9F9A-EB2DD4AA31C5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0F6C3-E74C-5A72-B3F7-27547C26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D956DE-CF7C-321C-6E88-08F17326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35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0C42D-F936-1A9D-9951-E0845A9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AF0349-752F-D01B-4E7D-FACA0FEB9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C30DB0-70C1-C87A-0F02-5D7B63B07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2701A5-D9DF-2628-7437-442EF49A9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3494A7-3EDF-8870-05B0-2A2D70153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F40F54B-115D-E9F7-76EA-7DF45189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E3D48-AC43-0C45-A211-BD9E02EE79FD}" type="datetime1">
              <a:rPr lang="ru-RU" smtClean="0"/>
              <a:t>08.02.2026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778B32-3995-3123-3060-DF459334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C13CE3-5D78-67C4-0133-F72E3442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E1B0E-52EF-CA72-7C02-56256DFC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D6EFAC-718A-DFEA-22D1-B29CB337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E6FC9-8EE9-664F-BB30-AF6EAF7301D2}" type="datetime1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16D2CC-35B6-76FA-3B63-1BC544BE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553D66-5512-23DE-746A-DBFB71D8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78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53609F8-638C-CDB4-AA04-C9895723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EBEA-9B05-2E4C-ABA0-8F4F29106B60}" type="datetime1">
              <a:rPr lang="ru-RU" smtClean="0"/>
              <a:t>08.02.2026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03FBA3-9BE6-5733-B025-268741BB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00051-4A3E-BA82-0EF4-A977BDC2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97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2F77A-7D21-C8ED-83BA-ECD576EB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DA093-BC7D-4A4D-72BB-9A3D42B3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B3E5E-B3CA-6A01-9827-ECDEF99C4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0C7D4C-5E3D-8DCC-667B-2BE4B441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8C7-84D5-324D-9A02-246D0F05FBA0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63A584-6F60-CD09-0A82-024F3102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8D2DDA-156A-17A4-8F70-0FA5A9D0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90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87613-1C60-9285-EA5B-B27EFBE4F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F2F285-B5E4-3A61-8C11-59BE75403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ED5DC-DEA7-5C74-852A-619EFE3D2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F4BDDC-1384-B353-1425-2B1860AE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5F93-BF8B-AB42-BA8E-4EFE9708333A}" type="datetime1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E53E7B-C02A-3485-7A27-70EDF538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3AB8C-3054-56CB-60EA-C0584501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1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AB16A-260A-8FA9-B365-B75F6179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D88B74-A9AC-CA55-68A1-8A022D32C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DFC033-789D-127D-B35E-AFC11896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259E-A561-2D44-9B04-967DF9F98D09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D82A4-369E-A78B-B202-D3A0D349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193F1-45BE-AD3B-5E75-3062B025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24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06073D-9832-17B2-CCA8-307980368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354123-8E8C-8077-4E8F-87DCAC8D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4C3328-7905-3756-4F28-2777F444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CECB-94BA-924B-A942-77557F9D039C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96747F-3ACF-54D6-91FD-F56EAB3C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14CC5E-A100-A05C-BEAB-657BB7B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65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19528-3873-4AD2-FF0C-4D2011DD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7EA3B1-0810-0F30-5393-E72F24028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32951C-0338-6FFB-00E3-5D69FA50A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B2A1-2C22-A747-A7A0-39A3B6D3177D}" type="datetime1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6252B8-09F6-06A1-8E27-BA60B80C5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453B19-50A3-1DB7-54BE-D6A2FE344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92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ikit-learn.org/stable/auto_examples/svm/plot_svm_kernels.html#xor-dataset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F88E2D5-D086-DA1C-B340-980D721C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14077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1820140" y="1766454"/>
            <a:ext cx="8551719" cy="1153391"/>
          </a:xfrm>
          <a:prstGeom prst="roundRect">
            <a:avLst/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A30000"/>
                </a:solidFill>
              </a:rPr>
              <a:t>Лекция</a:t>
            </a:r>
            <a:r>
              <a:rPr lang="en-US" sz="4000" dirty="0">
                <a:solidFill>
                  <a:srgbClr val="A30000"/>
                </a:solidFill>
              </a:rPr>
              <a:t> 8: SVM</a:t>
            </a:r>
            <a:endParaRPr lang="ru-RU" sz="4000" dirty="0">
              <a:solidFill>
                <a:srgbClr val="A3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567BA-38D5-2BF5-75F8-A8B574F1825C}"/>
              </a:ext>
            </a:extLst>
          </p:cNvPr>
          <p:cNvSpPr txBox="1"/>
          <p:nvPr/>
        </p:nvSpPr>
        <p:spPr>
          <a:xfrm>
            <a:off x="3049732" y="3429000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dirty="0"/>
              <a:t>Машин Иван</a:t>
            </a:r>
            <a:r>
              <a:rPr lang="en-US" sz="2400" dirty="0"/>
              <a:t> </a:t>
            </a:r>
            <a:r>
              <a:rPr lang="ru-RU" sz="2400" dirty="0"/>
              <a:t>Сергеевич</a:t>
            </a:r>
            <a:endParaRPr lang="ru-RU" sz="2400" b="0" dirty="0"/>
          </a:p>
          <a:p>
            <a:pPr algn="ctr"/>
            <a:endParaRPr lang="ru-RU" sz="2400" b="0" dirty="0"/>
          </a:p>
          <a:p>
            <a:pPr algn="ctr"/>
            <a:r>
              <a:rPr lang="ru-RU" sz="2400" dirty="0"/>
              <a:t>февраль 2026</a:t>
            </a:r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353116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Отступ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/>
              <p:nvPr/>
            </p:nvSpPr>
            <p:spPr>
              <a:xfrm>
                <a:off x="874713" y="1042588"/>
                <a:ext cx="10413813" cy="3095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–</a:t>
                </a:r>
                <a:r>
                  <a:rPr lang="ru-RU" sz="2400" dirty="0"/>
                  <a:t> множество наблюдаемых признаков</a:t>
                </a:r>
                <a:r>
                  <a:rPr lang="en-US" sz="2400" dirty="0"/>
                  <a:t>;</a:t>
                </a:r>
                <a:endParaRPr lang="ru-RU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– конечное множество меток классов</a:t>
                </a:r>
                <a:r>
                  <a:rPr lang="en-US" sz="2400" dirty="0"/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dirty="0"/>
                  <a:t>дискриминантная функция (функция рейтинга класса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2400" dirty="0"/>
                  <a:t>)</a:t>
                </a:r>
                <a:r>
                  <a:rPr lang="en-US" sz="2400" dirty="0"/>
                  <a:t>;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Тогда: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−величина отступа классификации</m:t>
                    </m:r>
                  </m:oMath>
                </a14:m>
                <a:endParaRPr lang="ru-RU" sz="2400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042588"/>
                <a:ext cx="10413813" cy="3095014"/>
              </a:xfrm>
              <a:prstGeom prst="rect">
                <a:avLst/>
              </a:prstGeom>
              <a:blipFill>
                <a:blip r:embed="rId3"/>
                <a:stretch>
                  <a:fillRect l="-853" b="-4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1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Отступ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/>
              <p:nvPr/>
            </p:nvSpPr>
            <p:spPr>
              <a:xfrm>
                <a:off x="874713" y="1042588"/>
                <a:ext cx="10413813" cy="5337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–</a:t>
                </a:r>
                <a:r>
                  <a:rPr lang="ru-RU" sz="2400" dirty="0"/>
                  <a:t> множество наблюдаемых признаков</a:t>
                </a:r>
                <a:r>
                  <a:rPr lang="en-US" sz="2400" dirty="0"/>
                  <a:t>;</a:t>
                </a:r>
                <a:endParaRPr lang="ru-RU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– конечное множество меток классов</a:t>
                </a:r>
                <a:r>
                  <a:rPr lang="en-US" sz="2400" dirty="0"/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dirty="0"/>
                  <a:t>дискриминантная функция (функция рейтинга класса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sz="2400" dirty="0"/>
                  <a:t>)</a:t>
                </a:r>
                <a:r>
                  <a:rPr lang="en-US" sz="2400" dirty="0"/>
                  <a:t>;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Тогда: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−величина отступа классификации</m:t>
                    </m:r>
                  </m:oMath>
                </a14:m>
                <a:endParaRPr lang="ru-RU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Случай бинарной классификации:</a:t>
                </a:r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</m:oMath>
                </a14:m>
                <a:endParaRPr lang="ru-RU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𝒚𝒈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относительная дискриминантная функция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042588"/>
                <a:ext cx="10413813" cy="5337167"/>
              </a:xfrm>
              <a:prstGeom prst="rect">
                <a:avLst/>
              </a:prstGeom>
              <a:blipFill>
                <a:blip r:embed="rId3"/>
                <a:stretch>
                  <a:fillRect l="-853" b="-16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47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Отступ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C2B854-9B2D-C894-BF50-ACEA6F512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631" y="1212343"/>
            <a:ext cx="8495138" cy="484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52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Отступ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C2B854-9B2D-C894-BF50-ACEA6F512A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3631" y="1246652"/>
            <a:ext cx="8495138" cy="477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Бинарный классификатор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/>
              <p:nvPr/>
            </p:nvSpPr>
            <p:spPr>
              <a:xfrm>
                <a:off x="889093" y="1268413"/>
                <a:ext cx="10413813" cy="3983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Дано:</a:t>
                </a:r>
                <a:endParaRPr lang="ru-RU" sz="2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Тогда в общем виде классификатор имеет вид: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93" y="1268413"/>
                <a:ext cx="10413813" cy="3983270"/>
              </a:xfrm>
              <a:prstGeom prst="rect">
                <a:avLst/>
              </a:prstGeom>
              <a:blipFill>
                <a:blip r:embed="rId3"/>
                <a:stretch>
                  <a:fillRect l="-976" b="-1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57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Бинарный классификатор – функция потерь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/>
              <p:nvPr/>
            </p:nvSpPr>
            <p:spPr>
              <a:xfrm>
                <a:off x="889093" y="1268413"/>
                <a:ext cx="10413813" cy="1968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Положим: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func>
                      </m:e>
                    </m:nary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93" y="1268413"/>
                <a:ext cx="10413813" cy="1968680"/>
              </a:xfrm>
              <a:prstGeom prst="rect">
                <a:avLst/>
              </a:prstGeom>
              <a:blipFill>
                <a:blip r:embed="rId3"/>
                <a:stretch>
                  <a:fillRect l="-976" b="-397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91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Бинарный классификатор – функция потерь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/>
              <p:nvPr/>
            </p:nvSpPr>
            <p:spPr>
              <a:xfrm>
                <a:off x="889093" y="1268413"/>
                <a:ext cx="10413813" cy="5047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Положим: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sz="2400" b="0" dirty="0"/>
                  <a:t>		| </a:t>
                </a:r>
                <a:r>
                  <a:rPr lang="ru-RU" sz="2400" b="0" dirty="0" err="1"/>
                  <a:t>домножим</a:t>
                </a:r>
                <a:r>
                  <a:rPr lang="ru-RU" sz="2400" b="0" dirty="0"/>
                  <a:t>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−1=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d>
                      </m:e>
                    </m:nary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𝑳𝒐𝒔𝒔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func>
                          <m:func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func>
                      </m:e>
                    </m:nary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93" y="1268413"/>
                <a:ext cx="10413813" cy="5047920"/>
              </a:xfrm>
              <a:prstGeom prst="rect">
                <a:avLst/>
              </a:prstGeom>
              <a:blipFill>
                <a:blip r:embed="rId3"/>
                <a:stretch>
                  <a:fillRect l="-1829" b="-172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517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5784" y="1072794"/>
            <a:ext cx="6681545" cy="533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3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Однослойный перцептрон </a:t>
            </a:r>
            <a:r>
              <a:rPr lang="ru-RU" sz="3600" dirty="0" err="1">
                <a:solidFill>
                  <a:srgbClr val="A30000"/>
                </a:solidFill>
              </a:rPr>
              <a:t>Розенблатта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/>
              <p:nvPr/>
            </p:nvSpPr>
            <p:spPr>
              <a:xfrm>
                <a:off x="889093" y="1268413"/>
                <a:ext cx="10413813" cy="4319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Положим: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 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Решение методом градиентного спуска: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0, 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&gt;0,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≥0</m:t>
                                  </m:r>
                                </m:e>
                              </m:mr>
                            </m:m>
                          </m:e>
                        </m:d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A723A-8E7E-442F-79AE-3BCD26A80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93" y="1268413"/>
                <a:ext cx="10413813" cy="4319259"/>
              </a:xfrm>
              <a:prstGeom prst="rect">
                <a:avLst/>
              </a:prstGeom>
              <a:blipFill>
                <a:blip r:embed="rId3"/>
                <a:stretch>
                  <a:fillRect l="-976" b="-605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72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5784" y="1072794"/>
            <a:ext cx="6681545" cy="53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3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Однослойный перцептрон </a:t>
            </a:r>
            <a:r>
              <a:rPr lang="ru-RU" sz="3600" dirty="0" err="1">
                <a:solidFill>
                  <a:srgbClr val="A30000"/>
                </a:solidFill>
              </a:rPr>
              <a:t>Розенблатта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1DF314-68F4-10BE-027F-C64F2D437C8B}"/>
                  </a:ext>
                </a:extLst>
              </p:cNvPr>
              <p:cNvSpPr txBox="1"/>
              <p:nvPr/>
            </p:nvSpPr>
            <p:spPr>
              <a:xfrm>
                <a:off x="903475" y="523781"/>
                <a:ext cx="10413813" cy="5810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→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Проблема: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400" dirty="0"/>
                      <m:t>Пусть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&gt;0    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400" dirty="0"/>
                      <m:t>т.е. выборка линейно разделима</m:t>
                    </m:r>
                  </m:oMath>
                </a14:m>
                <a:r>
                  <a:rPr lang="en-US" sz="2400" b="0" dirty="0"/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Тогда для этого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 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⇒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b="0" dirty="0"/>
                  <a:t>т.е. достигнуто минимальное значение</a:t>
                </a:r>
                <a:r>
                  <a:rPr lang="en-US" sz="2400" dirty="0"/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Рассмотрим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вектор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выполняется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т.к.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 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b="0" dirty="0"/>
                  <a:t>Т</a:t>
                </a:r>
                <a:r>
                  <a:rPr lang="ru-RU" sz="2400" dirty="0"/>
                  <a:t>аким образом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1DF314-68F4-10BE-027F-C64F2D437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523781"/>
                <a:ext cx="10413813" cy="5810052"/>
              </a:xfrm>
              <a:prstGeom prst="rect">
                <a:avLst/>
              </a:prstGeom>
              <a:blipFill>
                <a:blip r:embed="rId3"/>
                <a:stretch>
                  <a:fillRect l="-974" t="-14847" b="-15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082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2995" y="1072794"/>
            <a:ext cx="6427121" cy="533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01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2995" y="1153965"/>
            <a:ext cx="6427121" cy="517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9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5088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Пусть задана гиперплоскость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Утверждение: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Вектор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b="0" dirty="0"/>
                  <a:t> </a:t>
                </a:r>
                <a:r>
                  <a:rPr lang="ru-RU" sz="2400" b="0" dirty="0"/>
                  <a:t>является вектором нормали к этой гиперплоскости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Доказательство: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 ⇒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вектора ортогональны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5088316"/>
              </a:xfrm>
              <a:prstGeom prst="rect">
                <a:avLst/>
              </a:prstGeom>
              <a:blipFill>
                <a:blip r:embed="rId3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342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373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Пусть задана гиперплоскость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Утверждение: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/>
                  <a:t>Расстояние от точки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dirty="0"/>
                  <a:t> </a:t>
                </a:r>
                <a:r>
                  <a:rPr lang="ru-RU" sz="2400" b="0" dirty="0"/>
                  <a:t>до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sz="2400" b="0" dirty="0"/>
                  <a:t> вычисляется по формуле</a:t>
                </a:r>
                <a:r>
                  <a:rPr lang="en-US" sz="2400" b="0" dirty="0"/>
                  <a:t>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3732497"/>
              </a:xfrm>
              <a:prstGeom prst="rect">
                <a:avLst/>
              </a:prstGeom>
              <a:blipFill>
                <a:blip r:embed="rId3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95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3570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b="0" dirty="0"/>
                  <a:t>Тогда</a:t>
                </a:r>
                <a:r>
                  <a:rPr lang="en-US" sz="2400" b="0" dirty="0"/>
                  <a:t>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𝑔𝑒𝑜𝑚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величина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отступа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CB6854-DBC2-604E-FCF6-2510EE0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3570914"/>
              </a:xfrm>
              <a:prstGeom prst="rect">
                <a:avLst/>
              </a:prstGeom>
              <a:blipFill>
                <a:blip r:embed="rId3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50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3414AC-3095-A533-1DE9-2221F65D2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41017" y="979807"/>
            <a:ext cx="5332900" cy="546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5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/>
              <p:nvPr/>
            </p:nvSpPr>
            <p:spPr>
              <a:xfrm>
                <a:off x="903475" y="1074424"/>
                <a:ext cx="10413813" cy="5189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Было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d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→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При этой функции потерь находим все гиперплоскости: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ru-RU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Хотим находить одну гиперплоскость:</a:t>
                </a: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Для этого: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074424"/>
                <a:ext cx="10413813" cy="5189369"/>
              </a:xfrm>
              <a:prstGeom prst="rect">
                <a:avLst/>
              </a:prstGeom>
              <a:blipFill>
                <a:blip r:embed="rId3"/>
                <a:stretch>
                  <a:fillRect l="-974" t="-58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891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/>
              <p:nvPr/>
            </p:nvSpPr>
            <p:spPr>
              <a:xfrm>
                <a:off x="903475" y="1109658"/>
                <a:ext cx="10413813" cy="5203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ru-RU" sz="2400" dirty="0"/>
              </a:p>
              <a:p>
                <a:pPr marL="285750" indent="-285750">
                  <a:lnSpc>
                    <a:spcPct val="12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b="0" dirty="0"/>
                  <a:t> «половина ширины полосы» (расстояние от гиперплоскости до ближайшей точки)</a:t>
                </a:r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/>
                  <a:t>Поскольку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sz="2400" b="0" dirty="0"/>
                  <a:t> можно нормировать общим положительным множителем, положим: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dirty="0"/>
                  <a:t> </a:t>
                </a:r>
                <a:r>
                  <a:rPr lang="ru-RU" sz="2400" b="0" dirty="0"/>
                  <a:t>и будем решать задачу максимизации</a:t>
                </a:r>
                <a:r>
                  <a:rPr lang="en-US" sz="2400" b="0" dirty="0"/>
                  <a:t>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109658"/>
                <a:ext cx="10413813" cy="5203027"/>
              </a:xfrm>
              <a:prstGeom prst="rect">
                <a:avLst/>
              </a:prstGeo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476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/>
              <p:nvPr/>
            </p:nvSpPr>
            <p:spPr>
              <a:xfrm>
                <a:off x="903475" y="1180639"/>
                <a:ext cx="10413813" cy="5061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Тогда окончательный вид задачи оптимизации примет вид: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≥1  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b="0" dirty="0"/>
                  <a:t>Или</a:t>
                </a:r>
                <a:r>
                  <a:rPr lang="en-US" sz="2400" dirty="0"/>
                  <a:t>, </a:t>
                </a:r>
                <a:r>
                  <a:rPr lang="ru-RU" sz="2400" dirty="0"/>
                  <a:t>что эквивалентно:</a:t>
                </a:r>
                <a:endParaRPr lang="ru-RU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≥1  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180639"/>
                <a:ext cx="10413813" cy="5061065"/>
              </a:xfrm>
              <a:prstGeom prst="rect">
                <a:avLst/>
              </a:prstGeom>
              <a:blipFill>
                <a:blip r:embed="rId3"/>
                <a:stretch>
                  <a:fillRect l="-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897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4276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≥1  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en-US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Интуитивно данная оптимизационная задача:</a:t>
                </a:r>
                <a:endParaRPr lang="ru-RU" sz="2400" b="0" dirty="0"/>
              </a:p>
              <a:p>
                <a:pPr marL="285750" indent="-285750">
                  <a:lnSpc>
                    <a:spcPct val="12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/>
                  <a:t>Обеспечивает уверенную классификацию всех объектов (с отступом не ниже единицы)</a:t>
                </a:r>
                <a:r>
                  <a:rPr lang="en-US" sz="2400" b="0" dirty="0"/>
                  <a:t>;</a:t>
                </a:r>
                <a:endParaRPr lang="ru-RU" sz="2400" b="0" dirty="0"/>
              </a:p>
              <a:p>
                <a:pPr marL="285750" indent="-285750">
                  <a:lnSpc>
                    <a:spcPct val="12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Я</a:t>
                </a:r>
                <a:r>
                  <a:rPr lang="ru-RU" sz="2400" b="0" dirty="0"/>
                  <a:t>вляется максимально простым за счёт минимизации </a:t>
                </a:r>
                <a:r>
                  <a:rPr lang="en-US" sz="2400" b="0" dirty="0"/>
                  <a:t>L2-</a:t>
                </a:r>
                <a:r>
                  <a:rPr lang="ru-RU" sz="2400" b="0" dirty="0"/>
                  <a:t>нормы весов.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DD896F-D2A4-43E9-9EB8-F6B9297E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4276555"/>
              </a:xfrm>
              <a:prstGeom prst="rect">
                <a:avLst/>
              </a:prstGeom>
              <a:blipFill>
                <a:blip r:embed="rId3"/>
                <a:stretch>
                  <a:fillRect l="-974" b="-23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159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03475" y="731553"/>
                <a:ext cx="10413813" cy="5606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≥1  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en-US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При этом решение задачи будет зависеть только от точек, для которых отступ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ru-RU" sz="2400" dirty="0"/>
                  <a:t> т</a:t>
                </a:r>
                <a:r>
                  <a:rPr lang="en-US" sz="2400" dirty="0"/>
                  <a:t>.</a:t>
                </a:r>
                <a:r>
                  <a:rPr lang="ru-RU" sz="2400" dirty="0"/>
                  <a:t>е</a:t>
                </a:r>
                <a:r>
                  <a:rPr lang="en-US" sz="2400" dirty="0"/>
                  <a:t>. </a:t>
                </a:r>
                <a:r>
                  <a:rPr lang="ru-RU" sz="2400" dirty="0"/>
                  <a:t>которые лежат на гиперплоскости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Такие вектора называются </a:t>
                </a:r>
                <a:r>
                  <a:rPr lang="ru-RU" sz="2400" b="1" dirty="0"/>
                  <a:t>опорными векторами </a:t>
                </a:r>
                <a:r>
                  <a:rPr lang="en-US" sz="2400" dirty="0"/>
                  <a:t>(support vectors).</a:t>
                </a:r>
                <a:endParaRPr lang="ru-RU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Включение/исключение других точек с отступом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2400" dirty="0"/>
                  <a:t> не будет оказывать влияния на решение задачи, поэтому их называют </a:t>
                </a:r>
                <a:r>
                  <a:rPr lang="ru-RU" sz="2400" b="1" dirty="0"/>
                  <a:t>неинформативными</a:t>
                </a:r>
                <a:r>
                  <a:rPr lang="ru-RU" sz="2400" dirty="0"/>
                  <a:t> (</a:t>
                </a:r>
                <a:r>
                  <a:rPr lang="en-US" sz="2400" dirty="0"/>
                  <a:t>non-informative).</a:t>
                </a:r>
                <a:endParaRPr lang="ru-R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731553"/>
                <a:ext cx="10413813" cy="5606150"/>
              </a:xfrm>
              <a:prstGeom prst="rect">
                <a:avLst/>
              </a:prstGeom>
              <a:blipFill>
                <a:blip r:embed="rId3"/>
                <a:stretch>
                  <a:fillRect l="-974" b="-13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4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постановка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3414AC-3095-A533-1DE9-2221F65D2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0691" y="1030422"/>
            <a:ext cx="6455214" cy="536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90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линейно неразделимый случай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505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В случае линейно-неразделимой обучаемой выборки условие: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≥1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en-US" sz="2400" dirty="0" err="1"/>
                  <a:t>н</a:t>
                </a:r>
                <a:r>
                  <a:rPr lang="ru-RU" sz="2400" dirty="0"/>
                  <a:t>е выполняется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решение=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en-US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Вводим допущение погрешности отклонения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</a:t>
                </a:r>
                <a:r>
                  <a:rPr lang="ru-RU" sz="2400" dirty="0"/>
                  <a:t>ля каждого объекта на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en-US" sz="2400" dirty="0" err="1"/>
                  <a:t>Н</a:t>
                </a:r>
                <a:r>
                  <a:rPr lang="ru-RU" sz="2400" dirty="0" err="1"/>
                  <a:t>овый</a:t>
                </a:r>
                <a:r>
                  <a:rPr lang="ru-RU" sz="2400" dirty="0"/>
                  <a:t> вид задачи оптимизации: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5052858"/>
              </a:xfrm>
              <a:prstGeom prst="rect">
                <a:avLst/>
              </a:prstGeom>
              <a:blipFill>
                <a:blip r:embed="rId3"/>
                <a:stretch>
                  <a:fillRect l="-974" b="-751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990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линейно неразделимый случай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03475" y="1268413"/>
                <a:ext cx="10413813" cy="4547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При этом мы хотим, чтобы величина погрешности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была как можно меньше</a:t>
                </a:r>
                <a:r>
                  <a:rPr lang="en-US" sz="2400" dirty="0"/>
                  <a:t>, </a:t>
                </a:r>
                <a:r>
                  <a:rPr lang="ru-RU" sz="2400" dirty="0"/>
                  <a:t>поэтому добавляем штраф: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5" y="1268413"/>
                <a:ext cx="10413813" cy="4547783"/>
              </a:xfrm>
              <a:prstGeom prst="rect">
                <a:avLst/>
              </a:prstGeom>
              <a:blipFill>
                <a:blip r:embed="rId3"/>
                <a:stretch>
                  <a:fillRect l="-974" t="-54039" r="-1096" b="-208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380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линейно неразделимый случай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82510" y="627282"/>
                <a:ext cx="10226980" cy="632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Перепишем относительно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627282"/>
                <a:ext cx="10226980" cy="6320705"/>
              </a:xfrm>
              <a:prstGeom prst="rect">
                <a:avLst/>
              </a:prstGeom>
              <a:blipFill>
                <a:blip r:embed="rId3"/>
                <a:stretch>
                  <a:fillRect l="-993" t="-13828" b="-212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710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 – </a:t>
            </a:r>
            <a:r>
              <a:rPr lang="ru-RU" sz="3600" dirty="0">
                <a:solidFill>
                  <a:srgbClr val="A30000"/>
                </a:solidFill>
              </a:rPr>
              <a:t>линейно неразделимый случай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82510" y="1118672"/>
                <a:ext cx="10226980" cy="5739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Соответствует функции потерь линейного бинарного классификатора: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С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р</a:t>
                </a:r>
                <a:r>
                  <a:rPr lang="ru-RU" sz="2400" dirty="0" err="1"/>
                  <a:t>егуляризацией</a:t>
                </a:r>
                <a:endParaRPr lang="ru-RU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en-US" sz="2400" dirty="0">
                    <a:solidFill>
                      <a:schemeClr val="tx1"/>
                    </a:solidFill>
                  </a:rPr>
                  <a:t>C </a:t>
                </a:r>
                <a:r>
                  <a:rPr lang="ru-RU" sz="2400" dirty="0"/>
                  <a:t>функцией </a:t>
                </a:r>
                <a:r>
                  <a:rPr lang="ru-RU" sz="2400" dirty="0">
                    <a:solidFill>
                      <a:schemeClr val="tx1"/>
                    </a:solidFill>
                  </a:rPr>
                  <a:t>потерь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0,1−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hinge loss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Чаще можно встретить вид: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2С</m:t>
                          </m:r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118672"/>
                <a:ext cx="10226980" cy="5739328"/>
              </a:xfrm>
              <a:prstGeom prst="rect">
                <a:avLst/>
              </a:prstGeom>
              <a:blipFill>
                <a:blip r:embed="rId3"/>
                <a:stretch>
                  <a:fillRect l="-993" t="-19690" b="-221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416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5784" y="1072794"/>
            <a:ext cx="6681545" cy="53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50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2381" y="1072794"/>
            <a:ext cx="6528351" cy="53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53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Loss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44EE5-F220-7853-287F-C387C5180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2381" y="1072794"/>
            <a:ext cx="6528351" cy="53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43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Теорема (условие </a:t>
            </a:r>
            <a:r>
              <a:rPr lang="ru-RU" sz="3600" dirty="0" err="1">
                <a:solidFill>
                  <a:srgbClr val="A30000"/>
                </a:solidFill>
              </a:rPr>
              <a:t>Каруша</a:t>
            </a:r>
            <a:r>
              <a:rPr lang="ru-RU" sz="3600" dirty="0">
                <a:solidFill>
                  <a:srgbClr val="A30000"/>
                </a:solidFill>
              </a:rPr>
              <a:t>-Куна-</a:t>
            </a:r>
            <a:r>
              <a:rPr lang="ru-RU" sz="3600" dirty="0" err="1">
                <a:solidFill>
                  <a:srgbClr val="A30000"/>
                </a:solidFill>
              </a:rPr>
              <a:t>Таккера</a:t>
            </a:r>
            <a:r>
              <a:rPr lang="ru-RU" sz="3600" dirty="0">
                <a:solidFill>
                  <a:srgbClr val="A3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8C425-F82D-9626-BAB2-05973010186A}"/>
                  </a:ext>
                </a:extLst>
              </p:cNvPr>
              <p:cNvSpPr txBox="1"/>
              <p:nvPr/>
            </p:nvSpPr>
            <p:spPr>
              <a:xfrm>
                <a:off x="982510" y="935183"/>
                <a:ext cx="10226980" cy="5511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000" dirty="0"/>
                  <a:t>Пусть поставлена задача нелинейного программирования с ограничениями:</a:t>
                </a: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≤0,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–</a:t>
                </a:r>
                <a:r>
                  <a:rPr lang="ru-RU" sz="2000" dirty="0"/>
                  <a:t> точка локального минимума при наложенных ограничениях, то существуют такие множители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что для функции Лагранжа </a:t>
                </a:r>
                <a14:m>
                  <m:oMath xmlns:m="http://schemas.openxmlformats.org/officeDocument/2006/math"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sz="200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000" dirty="0"/>
                  <a:t> </a:t>
                </a:r>
                <a:r>
                  <a:rPr lang="ru-RU" sz="2000" dirty="0"/>
                  <a:t>выполняются условия: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=0,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≤0,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000" dirty="0"/>
                  <a:t>При этом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является седловой точкой функции Лагранжа</a:t>
                </a:r>
                <a:r>
                  <a:rPr lang="en-US" sz="2000" dirty="0"/>
                  <a:t>; </a:t>
                </a:r>
                <a:r>
                  <a:rPr lang="ru-RU" sz="2000" dirty="0"/>
                  <a:t>минимум по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максимум по двойственным переменным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8C425-F82D-9626-BAB2-05973010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935183"/>
                <a:ext cx="10226980" cy="5511958"/>
              </a:xfrm>
              <a:prstGeom prst="rect">
                <a:avLst/>
              </a:prstGeom>
              <a:blipFill>
                <a:blip r:embed="rId3"/>
                <a:stretch>
                  <a:fillRect l="-620" t="-230" b="-9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65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Теорема (условие </a:t>
            </a:r>
            <a:r>
              <a:rPr lang="ru-RU" sz="3600" dirty="0" err="1">
                <a:solidFill>
                  <a:srgbClr val="A30000"/>
                </a:solidFill>
              </a:rPr>
              <a:t>Каруша</a:t>
            </a:r>
            <a:r>
              <a:rPr lang="ru-RU" sz="3600" dirty="0">
                <a:solidFill>
                  <a:srgbClr val="A30000"/>
                </a:solidFill>
              </a:rPr>
              <a:t>-Куна-</a:t>
            </a:r>
            <a:r>
              <a:rPr lang="ru-RU" sz="3600" dirty="0" err="1">
                <a:solidFill>
                  <a:srgbClr val="A30000"/>
                </a:solidFill>
              </a:rPr>
              <a:t>Таккера</a:t>
            </a:r>
            <a:r>
              <a:rPr lang="ru-RU" sz="3600" dirty="0">
                <a:solidFill>
                  <a:srgbClr val="A3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5D034-F454-B501-68C4-1AFDA5CB8108}"/>
              </a:ext>
            </a:extLst>
          </p:cNvPr>
          <p:cNvSpPr txBox="1"/>
          <p:nvPr/>
        </p:nvSpPr>
        <p:spPr>
          <a:xfrm>
            <a:off x="982510" y="1715969"/>
            <a:ext cx="10226980" cy="313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A30000"/>
              </a:buClr>
            </a:pPr>
            <a:r>
              <a:rPr lang="ru-RU" sz="2400" dirty="0"/>
              <a:t>Теорема ККТ встречалась вам в следующих моделях:</a:t>
            </a:r>
          </a:p>
          <a:p>
            <a:pPr>
              <a:lnSpc>
                <a:spcPct val="120000"/>
              </a:lnSpc>
              <a:buClr>
                <a:srgbClr val="A30000"/>
              </a:buClr>
            </a:pPr>
            <a:endParaRPr lang="en-US" sz="2400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Модель Рамсея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Модель пересекающихся поколений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b="0" dirty="0">
                <a:solidFill>
                  <a:schemeClr val="tx1"/>
                </a:solidFill>
              </a:rPr>
              <a:t>Модель </a:t>
            </a:r>
            <a:r>
              <a:rPr lang="en-US" sz="2400" dirty="0"/>
              <a:t>q-</a:t>
            </a:r>
            <a:r>
              <a:rPr lang="ru-RU" sz="2400" dirty="0"/>
              <a:t>Тобина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en-US" sz="2400" dirty="0"/>
              <a:t>… ?</a:t>
            </a:r>
          </a:p>
        </p:txBody>
      </p:sp>
    </p:spTree>
    <p:extLst>
      <p:ext uri="{BB962C8B-B14F-4D97-AF65-F5344CB8AC3E}">
        <p14:creationId xmlns:p14="http://schemas.microsoft.com/office/powerpoint/2010/main" val="3104071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1118672"/>
                <a:ext cx="10226980" cy="4669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>
                    <a:solidFill>
                      <a:schemeClr val="tx1"/>
                    </a:solidFill>
                  </a:rPr>
                  <a:t>По теореме ККТ поставленная минимизация эквивалентна двойственной задаче поиска седловой точки функции Лагранжа: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b="0" dirty="0">
                    <a:solidFill>
                      <a:schemeClr val="tx1"/>
                    </a:solidFill>
                  </a:rPr>
                  <a:t>переменные, двойственные к ограничениям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b="0" dirty="0">
                    <a:solidFill>
                      <a:schemeClr val="tx1"/>
                    </a:solidFill>
                  </a:rPr>
                  <a:t>переменные, двойственные к ограничениям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118672"/>
                <a:ext cx="10226980" cy="4669868"/>
              </a:xfrm>
              <a:prstGeom prst="rect">
                <a:avLst/>
              </a:prstGeom>
              <a:blipFill>
                <a:blip r:embed="rId3"/>
                <a:stretch>
                  <a:fillRect l="-993" t="-24119" b="-154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93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1034060"/>
                <a:ext cx="10226980" cy="5354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Продифференцировав функцию Лагранжа, прировняв производные к 0 и упростив, получим: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И поскольку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соответствует ограничениям на величину отступа, можем определить: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≥1 −</m:t>
                    </m:r>
                  </m:oMath>
                </a14:m>
                <a:r>
                  <a:rPr lang="ru-RU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400" b="1" dirty="0"/>
                  <a:t>неинформативные</a:t>
                </a:r>
                <a:r>
                  <a:rPr lang="ru-RU" sz="2400" dirty="0"/>
                  <a:t> объекты</a:t>
                </a:r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1 −</m:t>
                    </m:r>
                  </m:oMath>
                </a14:m>
                <a:r>
                  <a:rPr lang="ru-RU" sz="2400" dirty="0"/>
                  <a:t> </a:t>
                </a:r>
                <a:r>
                  <a:rPr lang="ru-RU" sz="2400" b="1" dirty="0"/>
                  <a:t>опорные</a:t>
                </a:r>
                <a:r>
                  <a:rPr lang="ru-RU" sz="2400" dirty="0"/>
                  <a:t> </a:t>
                </a:r>
                <a:r>
                  <a:rPr lang="ru-RU" sz="2400" b="1" dirty="0"/>
                  <a:t>граничные</a:t>
                </a:r>
                <a:r>
                  <a:rPr lang="ru-RU" sz="2400" dirty="0"/>
                  <a:t> объекты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1 −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1" dirty="0"/>
                  <a:t>опорные</a:t>
                </a:r>
                <a:r>
                  <a:rPr lang="ru-RU" sz="2400" dirty="0"/>
                  <a:t> </a:t>
                </a:r>
                <a:r>
                  <a:rPr lang="ru-RU" sz="2400" b="1" dirty="0"/>
                  <a:t>объекты-нарушители</a:t>
                </a:r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034060"/>
                <a:ext cx="10226980" cy="5354223"/>
              </a:xfrm>
              <a:prstGeom prst="rect">
                <a:avLst/>
              </a:prstGeom>
              <a:blipFill>
                <a:blip r:embed="rId3"/>
                <a:stretch>
                  <a:fillRect l="-1861" b="-1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791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961701"/>
                <a:ext cx="10226980" cy="5498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Посдтавив полученные значения при дифференцировании в функцию Лагранжа:</a:t>
                </a: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Получаем постановку задачи, зависящую только от двойственных переменных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 …,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961701"/>
                <a:ext cx="10226980" cy="5498941"/>
              </a:xfrm>
              <a:prstGeom prst="rect">
                <a:avLst/>
              </a:prstGeom>
              <a:blipFill>
                <a:blip r:embed="rId3"/>
                <a:stretch>
                  <a:fillRect l="-993" t="-4378" b="-308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534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1224181"/>
                <a:ext cx="10226980" cy="551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Решением данной задачи квадратичного программирования является система:</a:t>
                </a:r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&gt;0,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Тогда классификатор вида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sz="2400" dirty="0"/>
                  <a:t> можно выразить</a:t>
                </a:r>
                <a:r>
                  <a:rPr lang="en-US" sz="2400" dirty="0"/>
                  <a:t> </a:t>
                </a:r>
                <a:r>
                  <a:rPr lang="ru-RU" sz="2400" dirty="0"/>
                  <a:t>в виде:</a:t>
                </a: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224181"/>
                <a:ext cx="10226980" cy="5518049"/>
              </a:xfrm>
              <a:prstGeom prst="rect">
                <a:avLst/>
              </a:prstGeom>
              <a:blipFill>
                <a:blip r:embed="rId3"/>
                <a:stretch>
                  <a:fillRect l="-993" t="-230" b="-250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217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</a:t>
            </a:r>
            <a:r>
              <a:rPr lang="en-US" sz="3600" dirty="0">
                <a:solidFill>
                  <a:srgbClr val="A30000"/>
                </a:solidFill>
              </a:rPr>
              <a:t>Kernel trick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965505"/>
                <a:ext cx="10226980" cy="4926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Если выборка объектов в признаковом пространстве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ru-RU" sz="2400" dirty="0"/>
                  <a:t> не является линейно разделимой, то можем предположить, что существует пространство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sz="2400" dirty="0"/>
                  <a:t> (спрямляющее)</a:t>
                </a:r>
                <a:r>
                  <a:rPr lang="en-US" sz="2400" dirty="0"/>
                  <a:t>,</a:t>
                </a:r>
                <a:r>
                  <a:rPr lang="ru-RU" sz="2400" dirty="0"/>
                  <a:t> при переходе в которое выборка становится линейно разделимой. Переход осуществляется с помощью спрямляющего отображения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Соответственно: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→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965505"/>
                <a:ext cx="10226980" cy="4926990"/>
              </a:xfrm>
              <a:prstGeom prst="rect">
                <a:avLst/>
              </a:prstGeom>
              <a:blipFill>
                <a:blip r:embed="rId3"/>
                <a:stretch>
                  <a:fillRect l="-993" t="-12564" b="-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220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</a:t>
            </a:r>
            <a:r>
              <a:rPr lang="en-US" sz="3600" dirty="0">
                <a:solidFill>
                  <a:srgbClr val="A30000"/>
                </a:solidFill>
              </a:rPr>
              <a:t>Kernel trick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961701"/>
                <a:ext cx="10226980" cy="540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Постановка задачи с применением ядер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 …,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ru-RU" sz="2400" b="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Классификатор:</a:t>
                </a:r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961701"/>
                <a:ext cx="10226980" cy="5409430"/>
              </a:xfrm>
              <a:prstGeom prst="rect">
                <a:avLst/>
              </a:prstGeom>
              <a:blipFill>
                <a:blip r:embed="rId3"/>
                <a:stretch>
                  <a:fillRect l="-993" t="-11007" b="-25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78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</a:t>
            </a:r>
            <a:r>
              <a:rPr lang="en-US" sz="3600" dirty="0">
                <a:solidFill>
                  <a:srgbClr val="A30000"/>
                </a:solidFill>
              </a:rPr>
              <a:t>Kernel trick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/>
              <p:nvPr/>
            </p:nvSpPr>
            <p:spPr>
              <a:xfrm>
                <a:off x="982510" y="961701"/>
                <a:ext cx="10226980" cy="540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Постановка задачи с применением ядер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=1, …,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ru-RU" sz="2400" b="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r>
                  <a:rPr lang="ru-RU" sz="2400" dirty="0"/>
                  <a:t>Классификатор:</a:t>
                </a:r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buClr>
                    <a:srgbClr val="A30000"/>
                  </a:buClr>
                </a:pP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124448-1297-8A10-4A0C-1B376734C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961701"/>
                <a:ext cx="10226980" cy="5409430"/>
              </a:xfrm>
              <a:prstGeom prst="rect">
                <a:avLst/>
              </a:prstGeom>
              <a:blipFill>
                <a:blip r:embed="rId3"/>
                <a:stretch>
                  <a:fillRect l="-993" t="-11007" b="-25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502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</a:t>
            </a:r>
            <a:r>
              <a:rPr lang="en-US" sz="3600" dirty="0">
                <a:solidFill>
                  <a:srgbClr val="A30000"/>
                </a:solidFill>
              </a:rPr>
              <a:t>Kernels visualization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pic>
        <p:nvPicPr>
          <p:cNvPr id="1026" name="Picture 2" descr="linear, poly, rbf, sigmoid">
            <a:extLst>
              <a:ext uri="{FF2B5EF4-FFF2-40B4-BE49-F238E27FC236}">
                <a16:creationId xmlns:a16="http://schemas.microsoft.com/office/drawing/2014/main" id="{A813A6B1-77A9-ABB3-94B7-4FBDCD4009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1" t="9170" r="8792" b="50000"/>
          <a:stretch/>
        </p:blipFill>
        <p:spPr bwMode="auto">
          <a:xfrm>
            <a:off x="165276" y="2068383"/>
            <a:ext cx="5774724" cy="288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ear, poly, rbf, sigmoid">
            <a:extLst>
              <a:ext uri="{FF2B5EF4-FFF2-40B4-BE49-F238E27FC236}">
                <a16:creationId xmlns:a16="http://schemas.microsoft.com/office/drawing/2014/main" id="{50698444-260E-438A-76B8-1BF3D6D9E4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8" t="50000" r="8079" b="6847"/>
          <a:stretch/>
        </p:blipFill>
        <p:spPr bwMode="auto">
          <a:xfrm>
            <a:off x="6053963" y="1957494"/>
            <a:ext cx="5972761" cy="306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B93A04-303D-2DBF-BEE8-3C89FCAAC27D}"/>
              </a:ext>
            </a:extLst>
          </p:cNvPr>
          <p:cNvSpPr txBox="1"/>
          <p:nvPr/>
        </p:nvSpPr>
        <p:spPr>
          <a:xfrm>
            <a:off x="8741953" y="5688568"/>
            <a:ext cx="3450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4"/>
              </a:rPr>
              <a:t>scikit-learn documentation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4781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r>
              <a:rPr lang="ru-RU" sz="3600" dirty="0">
                <a:solidFill>
                  <a:srgbClr val="A30000"/>
                </a:solidFill>
              </a:rPr>
              <a:t> – </a:t>
            </a:r>
            <a:r>
              <a:rPr lang="en-US" sz="3600" dirty="0">
                <a:solidFill>
                  <a:srgbClr val="A30000"/>
                </a:solidFill>
              </a:rPr>
              <a:t>2 layer dense NN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2007EC6-7BA8-C3D3-004F-2E0D97B9BE70}"/>
              </a:ext>
            </a:extLst>
          </p:cNvPr>
          <p:cNvSpPr/>
          <p:nvPr/>
        </p:nvSpPr>
        <p:spPr>
          <a:xfrm>
            <a:off x="3036307" y="2291429"/>
            <a:ext cx="584200" cy="584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F7690F9-92BC-8F94-7DC3-FB44B190592B}"/>
              </a:ext>
            </a:extLst>
          </p:cNvPr>
          <p:cNvSpPr/>
          <p:nvPr/>
        </p:nvSpPr>
        <p:spPr>
          <a:xfrm>
            <a:off x="3036307" y="3982778"/>
            <a:ext cx="584200" cy="5842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8E9E1-91A2-05BF-79BF-75135D9433B9}"/>
                  </a:ext>
                </a:extLst>
              </p:cNvPr>
              <p:cNvSpPr txBox="1"/>
              <p:nvPr/>
            </p:nvSpPr>
            <p:spPr>
              <a:xfrm>
                <a:off x="3115290" y="2386288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8E9E1-91A2-05BF-79BF-75135D943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290" y="2386288"/>
                <a:ext cx="46076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7EC113-8D47-410D-B919-303774B86414}"/>
                  </a:ext>
                </a:extLst>
              </p:cNvPr>
              <p:cNvSpPr txBox="1"/>
              <p:nvPr/>
            </p:nvSpPr>
            <p:spPr>
              <a:xfrm>
                <a:off x="3115290" y="4068332"/>
                <a:ext cx="480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7EC113-8D47-410D-B919-303774B8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290" y="4068332"/>
                <a:ext cx="4801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5DEB78C-7CD9-0058-E633-B3ED3B60E460}"/>
              </a:ext>
            </a:extLst>
          </p:cNvPr>
          <p:cNvSpPr txBox="1"/>
          <p:nvPr/>
        </p:nvSpPr>
        <p:spPr>
          <a:xfrm>
            <a:off x="3153440" y="32443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RU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560B454D-B8F2-463F-B920-CE67356A3DD9}"/>
              </a:ext>
            </a:extLst>
          </p:cNvPr>
          <p:cNvSpPr/>
          <p:nvPr/>
        </p:nvSpPr>
        <p:spPr>
          <a:xfrm>
            <a:off x="5131807" y="2291429"/>
            <a:ext cx="584200" cy="584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139BC2EE-3510-1227-0DD9-1799E851F0ED}"/>
              </a:ext>
            </a:extLst>
          </p:cNvPr>
          <p:cNvSpPr/>
          <p:nvPr/>
        </p:nvSpPr>
        <p:spPr>
          <a:xfrm>
            <a:off x="5131807" y="3982778"/>
            <a:ext cx="584200" cy="584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F78F23-FD0D-BF25-D876-C3D17B775D31}"/>
                  </a:ext>
                </a:extLst>
              </p:cNvPr>
              <p:cNvSpPr txBox="1"/>
              <p:nvPr/>
            </p:nvSpPr>
            <p:spPr>
              <a:xfrm>
                <a:off x="4904405" y="1900217"/>
                <a:ext cx="1039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F78F23-FD0D-BF25-D876-C3D17B77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405" y="1900217"/>
                <a:ext cx="10390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5ACBF0-1C4D-1CFC-E3F6-2123A407C818}"/>
                  </a:ext>
                </a:extLst>
              </p:cNvPr>
              <p:cNvSpPr txBox="1"/>
              <p:nvPr/>
            </p:nvSpPr>
            <p:spPr>
              <a:xfrm>
                <a:off x="4896775" y="4566978"/>
                <a:ext cx="1054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5ACBF0-1C4D-1CFC-E3F6-2123A407C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775" y="4566978"/>
                <a:ext cx="105426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1D20BA5-BC4D-25A4-F92F-09AA9FEF8E68}"/>
              </a:ext>
            </a:extLst>
          </p:cNvPr>
          <p:cNvCxnSpPr>
            <a:stCxn id="4" idx="5"/>
            <a:endCxn id="13" idx="1"/>
          </p:cNvCxnSpPr>
          <p:nvPr/>
        </p:nvCxnSpPr>
        <p:spPr>
          <a:xfrm>
            <a:off x="3534953" y="2790075"/>
            <a:ext cx="1682408" cy="127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832861A-AC6F-05F4-09CF-741B16586106}"/>
              </a:ext>
            </a:extLst>
          </p:cNvPr>
          <p:cNvCxnSpPr>
            <a:cxnSpLocks/>
            <a:stCxn id="6" idx="7"/>
            <a:endCxn id="12" idx="3"/>
          </p:cNvCxnSpPr>
          <p:nvPr/>
        </p:nvCxnSpPr>
        <p:spPr>
          <a:xfrm flipV="1">
            <a:off x="3534953" y="2790075"/>
            <a:ext cx="1682408" cy="1278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690BD16-EAAF-FB40-B4AD-45E517067D09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3620507" y="4274878"/>
            <a:ext cx="15113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150EBC2-8182-C7D1-4630-2A6BDDA18232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3620507" y="2583529"/>
            <a:ext cx="15113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25BFA6-D9F5-BE50-7948-EE285144EF2B}"/>
              </a:ext>
            </a:extLst>
          </p:cNvPr>
          <p:cNvSpPr txBox="1"/>
          <p:nvPr/>
        </p:nvSpPr>
        <p:spPr>
          <a:xfrm>
            <a:off x="5255510" y="32443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4214B6E-4C20-5698-AC8F-891C395266A8}"/>
              </a:ext>
            </a:extLst>
          </p:cNvPr>
          <p:cNvSpPr/>
          <p:nvPr/>
        </p:nvSpPr>
        <p:spPr>
          <a:xfrm>
            <a:off x="6833607" y="3136900"/>
            <a:ext cx="584200" cy="5842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13236438-4279-0B2E-A8A7-6BFDE9B89957}"/>
              </a:ext>
            </a:extLst>
          </p:cNvPr>
          <p:cNvCxnSpPr>
            <a:cxnSpLocks/>
            <a:stCxn id="32" idx="1"/>
            <a:endCxn id="12" idx="6"/>
          </p:cNvCxnSpPr>
          <p:nvPr/>
        </p:nvCxnSpPr>
        <p:spPr>
          <a:xfrm flipH="1" flipV="1">
            <a:off x="5716007" y="2583529"/>
            <a:ext cx="1203154" cy="6389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B1091D18-4361-9108-CAE0-C7BF7C30277A}"/>
              </a:ext>
            </a:extLst>
          </p:cNvPr>
          <p:cNvCxnSpPr>
            <a:cxnSpLocks/>
            <a:stCxn id="32" idx="3"/>
            <a:endCxn id="13" idx="6"/>
          </p:cNvCxnSpPr>
          <p:nvPr/>
        </p:nvCxnSpPr>
        <p:spPr>
          <a:xfrm flipH="1">
            <a:off x="5716007" y="3635546"/>
            <a:ext cx="1203154" cy="63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BC1EC2-E504-72C9-6D42-5442380B9275}"/>
                  </a:ext>
                </a:extLst>
              </p:cNvPr>
              <p:cNvSpPr txBox="1"/>
              <p:nvPr/>
            </p:nvSpPr>
            <p:spPr>
              <a:xfrm>
                <a:off x="6925171" y="3236250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CBC1EC2-E504-72C9-6D42-5442380B9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171" y="3236250"/>
                <a:ext cx="401072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Овал 41">
            <a:extLst>
              <a:ext uri="{FF2B5EF4-FFF2-40B4-BE49-F238E27FC236}">
                <a16:creationId xmlns:a16="http://schemas.microsoft.com/office/drawing/2014/main" id="{2486669E-6F97-D6CB-02D4-7B67DCDA8196}"/>
              </a:ext>
            </a:extLst>
          </p:cNvPr>
          <p:cNvSpPr/>
          <p:nvPr/>
        </p:nvSpPr>
        <p:spPr>
          <a:xfrm>
            <a:off x="8449853" y="3136900"/>
            <a:ext cx="584200" cy="584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99E2AC-A4AC-EA87-3B07-3730B78D7522}"/>
                  </a:ext>
                </a:extLst>
              </p:cNvPr>
              <p:cNvSpPr txBox="1"/>
              <p:nvPr/>
            </p:nvSpPr>
            <p:spPr>
              <a:xfrm>
                <a:off x="8393556" y="3236250"/>
                <a:ext cx="69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99E2AC-A4AC-EA87-3B07-3730B78D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56" y="3236250"/>
                <a:ext cx="696794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325E4B6B-D882-EA0B-0707-3A6BD9AECC27}"/>
              </a:ext>
            </a:extLst>
          </p:cNvPr>
          <p:cNvCxnSpPr>
            <a:cxnSpLocks/>
            <a:stCxn id="42" idx="2"/>
            <a:endCxn id="32" idx="6"/>
          </p:cNvCxnSpPr>
          <p:nvPr/>
        </p:nvCxnSpPr>
        <p:spPr>
          <a:xfrm flipH="1">
            <a:off x="7417807" y="3429000"/>
            <a:ext cx="10320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Овал 47">
            <a:extLst>
              <a:ext uri="{FF2B5EF4-FFF2-40B4-BE49-F238E27FC236}">
                <a16:creationId xmlns:a16="http://schemas.microsoft.com/office/drawing/2014/main" id="{5AD86740-B407-F7F4-D86C-0946715B11CE}"/>
              </a:ext>
            </a:extLst>
          </p:cNvPr>
          <p:cNvSpPr/>
          <p:nvPr/>
        </p:nvSpPr>
        <p:spPr>
          <a:xfrm>
            <a:off x="6833607" y="4013200"/>
            <a:ext cx="584200" cy="5842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9E9F25-4FFB-9BF3-4F45-47915607798B}"/>
                  </a:ext>
                </a:extLst>
              </p:cNvPr>
              <p:cNvSpPr txBox="1"/>
              <p:nvPr/>
            </p:nvSpPr>
            <p:spPr>
              <a:xfrm>
                <a:off x="6958578" y="4120396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A9E9F25-4FFB-9BF3-4F45-479156077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578" y="4120396"/>
                <a:ext cx="3676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74F08B85-5DCE-9DC6-A0D7-113C109BD52D}"/>
              </a:ext>
            </a:extLst>
          </p:cNvPr>
          <p:cNvCxnSpPr>
            <a:cxnSpLocks/>
            <a:stCxn id="32" idx="4"/>
            <a:endCxn id="48" idx="0"/>
          </p:cNvCxnSpPr>
          <p:nvPr/>
        </p:nvCxnSpPr>
        <p:spPr>
          <a:xfrm>
            <a:off x="7125707" y="3721100"/>
            <a:ext cx="0" cy="292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D891EF-E737-1460-730F-45E28DC132F1}"/>
                  </a:ext>
                </a:extLst>
              </p:cNvPr>
              <p:cNvSpPr txBox="1"/>
              <p:nvPr/>
            </p:nvSpPr>
            <p:spPr>
              <a:xfrm rot="19989247">
                <a:off x="5913006" y="3605582"/>
                <a:ext cx="716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9D891EF-E737-1460-730F-45E28DC13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89247">
                <a:off x="5913006" y="3605582"/>
                <a:ext cx="71673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21D60D-695D-EAC9-25EC-B2C2693182AF}"/>
                  </a:ext>
                </a:extLst>
              </p:cNvPr>
              <p:cNvSpPr txBox="1"/>
              <p:nvPr/>
            </p:nvSpPr>
            <p:spPr>
              <a:xfrm rot="1679189">
                <a:off x="6091428" y="2588376"/>
                <a:ext cx="6846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21D60D-695D-EAC9-25EC-B2C269318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79189">
                <a:off x="6091428" y="2588376"/>
                <a:ext cx="68467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F837D26-28FB-3C30-5C7D-40656CA9A0CF}"/>
                  </a:ext>
                </a:extLst>
              </p:cNvPr>
              <p:cNvSpPr txBox="1"/>
              <p:nvPr/>
            </p:nvSpPr>
            <p:spPr>
              <a:xfrm>
                <a:off x="3994219" y="3945288"/>
                <a:ext cx="476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F837D26-28FB-3C30-5C7D-40656CA9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219" y="3945288"/>
                <a:ext cx="4767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B90181-9BEB-D7F1-EAD1-18C01B53D6F6}"/>
                  </a:ext>
                </a:extLst>
              </p:cNvPr>
              <p:cNvSpPr txBox="1"/>
              <p:nvPr/>
            </p:nvSpPr>
            <p:spPr>
              <a:xfrm rot="19261981">
                <a:off x="3630455" y="3422490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B90181-9BEB-D7F1-EAD1-18C01B53D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61981">
                <a:off x="3630455" y="3422490"/>
                <a:ext cx="46076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E77EE6-40C5-3071-4AFC-B2484C58DEB6}"/>
                  </a:ext>
                </a:extLst>
              </p:cNvPr>
              <p:cNvSpPr txBox="1"/>
              <p:nvPr/>
            </p:nvSpPr>
            <p:spPr>
              <a:xfrm>
                <a:off x="4025048" y="2262213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E77EE6-40C5-3071-4AFC-B2484C58D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048" y="2262213"/>
                <a:ext cx="46076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C7C98D5-59E9-7922-E02B-4C07DB157F21}"/>
                  </a:ext>
                </a:extLst>
              </p:cNvPr>
              <p:cNvSpPr txBox="1"/>
              <p:nvPr/>
            </p:nvSpPr>
            <p:spPr>
              <a:xfrm rot="2267679">
                <a:off x="3755820" y="2760859"/>
                <a:ext cx="476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C7C98D5-59E9-7922-E02B-4C07DB15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67679">
                <a:off x="3755820" y="2760859"/>
                <a:ext cx="47679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BA9A9154-9C2F-D10C-2F4B-1D6097ED95D6}"/>
              </a:ext>
            </a:extLst>
          </p:cNvPr>
          <p:cNvCxnSpPr>
            <a:cxnSpLocks/>
            <a:stCxn id="42" idx="6"/>
          </p:cNvCxnSpPr>
          <p:nvPr/>
        </p:nvCxnSpPr>
        <p:spPr>
          <a:xfrm>
            <a:off x="9034053" y="3429000"/>
            <a:ext cx="87194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4DF76747-E859-A431-61C4-9C3EAB7ADB58}"/>
                  </a:ext>
                </a:extLst>
              </p:cNvPr>
              <p:cNvSpPr txBox="1"/>
              <p:nvPr/>
            </p:nvSpPr>
            <p:spPr>
              <a:xfrm>
                <a:off x="9906000" y="3235032"/>
                <a:ext cx="694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4DF76747-E859-A431-61C4-9C3EAB7AD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0" y="3235032"/>
                <a:ext cx="69422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560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6E247-C06D-F7E7-6967-90747A444551}"/>
              </a:ext>
            </a:extLst>
          </p:cNvPr>
          <p:cNvSpPr txBox="1"/>
          <p:nvPr/>
        </p:nvSpPr>
        <p:spPr>
          <a:xfrm>
            <a:off x="982510" y="1333212"/>
            <a:ext cx="10226980" cy="4910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A30000"/>
              </a:buClr>
            </a:pPr>
            <a:r>
              <a:rPr lang="ru-RU" sz="2400" b="0" dirty="0">
                <a:solidFill>
                  <a:schemeClr val="tx1"/>
                </a:solidFill>
              </a:rPr>
              <a:t>Преимущества </a:t>
            </a:r>
            <a:r>
              <a:rPr lang="en-US" sz="2400" b="0" dirty="0">
                <a:solidFill>
                  <a:schemeClr val="tx1"/>
                </a:solidFill>
              </a:rPr>
              <a:t>SVM: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b="0" dirty="0">
                <a:solidFill>
                  <a:schemeClr val="tx1"/>
                </a:solidFill>
              </a:rPr>
              <a:t>Задача выпуклого квадратичного программирования хорошо изучена и имеет единственное решение</a:t>
            </a:r>
            <a:r>
              <a:rPr lang="en-US" sz="2400" b="0" dirty="0">
                <a:solidFill>
                  <a:schemeClr val="tx1"/>
                </a:solidFill>
              </a:rPr>
              <a:t>;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b="0" dirty="0">
                <a:solidFill>
                  <a:schemeClr val="tx1"/>
                </a:solidFill>
              </a:rPr>
              <a:t>Метод опорных векторов эквивалентен двухслойной нейронной сети, где число нейронов на скрытом слое определяется автоматически как число опорных векторов</a:t>
            </a:r>
            <a:r>
              <a:rPr lang="en-US" sz="2400" b="0" dirty="0">
                <a:solidFill>
                  <a:schemeClr val="tx1"/>
                </a:solidFill>
              </a:rPr>
              <a:t>;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b="0" dirty="0">
                <a:solidFill>
                  <a:schemeClr val="tx1"/>
                </a:solidFill>
              </a:rPr>
              <a:t>Оптимизация приводит к максимизации ширины разделяющей полосы и более уверенной классификации</a:t>
            </a:r>
            <a:r>
              <a:rPr lang="en-US" sz="2400" b="0" dirty="0">
                <a:solidFill>
                  <a:schemeClr val="tx1"/>
                </a:solidFill>
              </a:rPr>
              <a:t>;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Метод можно использовать для анализа выбросов обучающей выборки</a:t>
            </a:r>
            <a:r>
              <a:rPr lang="en-US" sz="2400" dirty="0"/>
              <a:t>.</a:t>
            </a:r>
            <a:endParaRPr lang="en-US" sz="2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481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SVM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6E247-C06D-F7E7-6967-90747A444551}"/>
                  </a:ext>
                </a:extLst>
              </p:cNvPr>
              <p:cNvSpPr txBox="1"/>
              <p:nvPr/>
            </p:nvSpPr>
            <p:spPr>
              <a:xfrm>
                <a:off x="982510" y="1333212"/>
                <a:ext cx="10226980" cy="4353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r>
                  <a:rPr lang="ru-RU" sz="2400" dirty="0"/>
                  <a:t>Недостатки</a:t>
                </a:r>
                <a:r>
                  <a:rPr lang="ru-RU" sz="2400" b="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SVM: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>
                    <a:solidFill>
                      <a:schemeClr val="tx1"/>
                    </a:solidFill>
                  </a:rPr>
                  <a:t>Неустойчивость к шуму: выбросы в исходных данных становятся опорными объектами-нарушителями и напрямую влияют на построение разделяющей гиперплоскости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>
                    <a:solidFill>
                      <a:schemeClr val="tx1"/>
                    </a:solidFill>
                  </a:rPr>
                  <a:t>Не описаны общие методы построения ядер и спрямляющих пространств, наиболее подходящих для конкретной задачи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dirty="0">
                    <a:solidFill>
                      <a:schemeClr val="tx1"/>
                    </a:solidFill>
                  </a:rPr>
                  <a:t>Нет отбора признаков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b="0" i="0" dirty="0">
                    <a:solidFill>
                      <a:srgbClr val="222222"/>
                    </a:solidFill>
                    <a:effectLst/>
                  </a:rPr>
                  <a:t>Необходимо подбирать константу 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222222"/>
                        </a:solidFill>
                        <a:effectLst/>
                      </a:rPr>
                      <m:t>𝐶</m:t>
                    </m:r>
                  </m:oMath>
                </a14:m>
                <a:r>
                  <a:rPr lang="en" sz="2400" b="0" i="0" dirty="0">
                    <a:solidFill>
                      <a:srgbClr val="222222"/>
                    </a:solidFill>
                    <a:effectLst/>
                  </a:rPr>
                  <a:t> </a:t>
                </a:r>
                <a:r>
                  <a:rPr lang="ru-RU" sz="2400" b="0" i="0" dirty="0">
                    <a:solidFill>
                      <a:srgbClr val="222222"/>
                    </a:solidFill>
                    <a:effectLst/>
                  </a:rPr>
                  <a:t>при помощи кросс-валидации.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6E247-C06D-F7E7-6967-90747A444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333212"/>
                <a:ext cx="10226980" cy="4353884"/>
              </a:xfrm>
              <a:prstGeom prst="rect">
                <a:avLst/>
              </a:prstGeom>
              <a:blipFill>
                <a:blip r:embed="rId3"/>
                <a:stretch>
                  <a:fillRect l="-993" r="-868" b="-23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247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L1-SVM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82510" y="1026270"/>
                <a:ext cx="10226980" cy="5369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=1,…,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регуляризация позволяет в точности </a:t>
                </a:r>
                <a:r>
                  <a:rPr lang="ru-RU" sz="2400" dirty="0" err="1"/>
                  <a:t>занулять</a:t>
                </a:r>
                <a:r>
                  <a:rPr lang="ru-RU" sz="2400" dirty="0"/>
                  <a:t> веса при оптимизации, что полезно, если заранее известно, что используется большое число слабо информативных признаков.</a:t>
                </a: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026270"/>
                <a:ext cx="10226980" cy="5369803"/>
              </a:xfrm>
              <a:prstGeom prst="rect">
                <a:avLst/>
              </a:prstGeom>
              <a:blipFill>
                <a:blip r:embed="rId3"/>
                <a:stretch>
                  <a:fillRect l="-993" t="-16274" b="-1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568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L1-SVM</a:t>
            </a:r>
            <a:endParaRPr lang="ru-RU" sz="3600" dirty="0">
              <a:solidFill>
                <a:srgbClr val="A3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/>
              <p:nvPr/>
            </p:nvSpPr>
            <p:spPr>
              <a:xfrm>
                <a:off x="982510" y="1754642"/>
                <a:ext cx="10226980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регуляризация позволяет в точности </a:t>
                </a:r>
                <a:r>
                  <a:rPr lang="ru-RU" sz="2400" dirty="0" err="1"/>
                  <a:t>занулять</a:t>
                </a:r>
                <a:r>
                  <a:rPr lang="ru-RU" sz="2400" dirty="0"/>
                  <a:t> веса при оптимизации, что полезно, если заранее известно, что используется большое число слабо информативных признаков.</a:t>
                </a: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Теряется возможность использовать </a:t>
                </a:r>
                <a:r>
                  <a:rPr lang="en-US" sz="2400" dirty="0"/>
                  <a:t>kernel trick</a:t>
                </a:r>
                <a:r>
                  <a:rPr lang="ru-RU" sz="2400" dirty="0"/>
                  <a:t>, т.к. в двойственную задачу признаки входят линейно, а не скалярно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399D26-ACA6-7DA3-BEB9-29A2471F0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10" y="1754642"/>
                <a:ext cx="10226980" cy="3359061"/>
              </a:xfrm>
              <a:prstGeom prst="rect">
                <a:avLst/>
              </a:prstGeom>
              <a:blipFill>
                <a:blip r:embed="rId3"/>
                <a:stretch>
                  <a:fillRect l="-993" b="-30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687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Скругленный прямоугольник 13">
                <a:extLst>
                  <a:ext uri="{FF2B5EF4-FFF2-40B4-BE49-F238E27FC236}">
                    <a16:creationId xmlns:a16="http://schemas.microsoft.com/office/drawing/2014/main" id="{3BDF7F77-1536-4706-7C17-725F5D2BD005}"/>
                  </a:ext>
                </a:extLst>
              </p:cNvPr>
              <p:cNvSpPr/>
              <p:nvPr/>
            </p:nvSpPr>
            <p:spPr>
              <a:xfrm>
                <a:off x="0" y="1"/>
                <a:ext cx="12192000" cy="935182"/>
              </a:xfrm>
              <a:prstGeom prst="roundRect">
                <a:avLst>
                  <a:gd name="adj" fmla="val 0"/>
                </a:avLst>
              </a:prstGeom>
              <a:solidFill>
                <a:srgbClr val="D9D9D9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sz="3600" dirty="0">
                    <a:solidFill>
                      <a:srgbClr val="A3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A30000"/>
                        </a:solidFill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3600" dirty="0">
                    <a:solidFill>
                      <a:srgbClr val="A30000"/>
                    </a:solidFill>
                  </a:rPr>
                  <a:t>-SVM</a:t>
                </a:r>
                <a:endParaRPr lang="ru-RU" sz="3600" dirty="0">
                  <a:solidFill>
                    <a:srgbClr val="A30000"/>
                  </a:solidFill>
                </a:endParaRPr>
              </a:p>
            </p:txBody>
          </p:sp>
        </mc:Choice>
        <mc:Fallback>
          <p:sp>
            <p:nvSpPr>
              <p:cNvPr id="14" name="Скругленный прямоугольник 13">
                <a:extLst>
                  <a:ext uri="{FF2B5EF4-FFF2-40B4-BE49-F238E27FC236}">
                    <a16:creationId xmlns:a16="http://schemas.microsoft.com/office/drawing/2014/main" id="{3BDF7F77-1536-4706-7C17-725F5D2BD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935182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94765-EB09-7C3E-E4AE-4D4AEC22FA2F}"/>
                  </a:ext>
                </a:extLst>
              </p:cNvPr>
              <p:cNvSpPr txBox="1"/>
              <p:nvPr/>
            </p:nvSpPr>
            <p:spPr>
              <a:xfrm>
                <a:off x="857250" y="1268413"/>
                <a:ext cx="10477500" cy="5521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𝑆𝑉𝑀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/>
                <a:endParaRPr lang="ru-RU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коэффициент штрафа за ошибки</a:t>
                </a:r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ru-RU" sz="2400" dirty="0"/>
                  <a:t>Происходит </a:t>
                </a:r>
                <a:r>
                  <a:rPr lang="ru-RU" sz="2400" dirty="0" err="1"/>
                  <a:t>репараметризация</a:t>
                </a:r>
                <a:r>
                  <a:rPr lang="ru-RU" sz="2400" dirty="0"/>
                  <a:t> с вводом нового коэффициента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  <a:p>
                <a:pPr>
                  <a:lnSpc>
                    <a:spcPct val="150000"/>
                  </a:lnSpc>
                </a:pPr>
                <a:r>
                  <a:rPr lang="ru-RU" sz="2400" dirty="0"/>
                  <a:t>Исходная задача приобретает вид: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𝜈𝜌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/>
                <a:endParaRPr lang="ru-RU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94765-EB09-7C3E-E4AE-4D4AEC22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268413"/>
                <a:ext cx="10477500" cy="5521833"/>
              </a:xfrm>
              <a:prstGeom prst="rect">
                <a:avLst/>
              </a:prstGeom>
              <a:blipFill>
                <a:blip r:embed="rId4"/>
                <a:stretch>
                  <a:fillRect l="-847" t="-23394" b="-4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887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BF8008-7A51-482C-C162-4946ED77EDF9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Classification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Скругленный прямоугольник 13">
                <a:extLst>
                  <a:ext uri="{FF2B5EF4-FFF2-40B4-BE49-F238E27FC236}">
                    <a16:creationId xmlns:a16="http://schemas.microsoft.com/office/drawing/2014/main" id="{3BDF7F77-1536-4706-7C17-725F5D2BD005}"/>
                  </a:ext>
                </a:extLst>
              </p:cNvPr>
              <p:cNvSpPr/>
              <p:nvPr/>
            </p:nvSpPr>
            <p:spPr>
              <a:xfrm>
                <a:off x="0" y="1"/>
                <a:ext cx="12192000" cy="935182"/>
              </a:xfrm>
              <a:prstGeom prst="roundRect">
                <a:avLst>
                  <a:gd name="adj" fmla="val 0"/>
                </a:avLst>
              </a:prstGeom>
              <a:solidFill>
                <a:srgbClr val="D9D9D9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sz="3600" dirty="0">
                    <a:solidFill>
                      <a:srgbClr val="A300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A30000"/>
                        </a:solidFill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3600" dirty="0">
                    <a:solidFill>
                      <a:srgbClr val="A30000"/>
                    </a:solidFill>
                  </a:rPr>
                  <a:t>-SVM</a:t>
                </a:r>
                <a:endParaRPr lang="ru-RU" sz="3600" dirty="0">
                  <a:solidFill>
                    <a:srgbClr val="A30000"/>
                  </a:solidFill>
                </a:endParaRPr>
              </a:p>
            </p:txBody>
          </p:sp>
        </mc:Choice>
        <mc:Fallback>
          <p:sp>
            <p:nvSpPr>
              <p:cNvPr id="14" name="Скругленный прямоугольник 13">
                <a:extLst>
                  <a:ext uri="{FF2B5EF4-FFF2-40B4-BE49-F238E27FC236}">
                    <a16:creationId xmlns:a16="http://schemas.microsoft.com/office/drawing/2014/main" id="{3BDF7F77-1536-4706-7C17-725F5D2BD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935182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967D65D-2299-7CF1-199B-81487B6D8806}"/>
              </a:ext>
            </a:extLst>
          </p:cNvPr>
          <p:cNvSpPr txBox="1"/>
          <p:nvPr/>
        </p:nvSpPr>
        <p:spPr>
          <a:xfrm>
            <a:off x="11693184" y="64871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30000"/>
                </a:solidFill>
              </a:rPr>
              <a:t>1</a:t>
            </a:r>
            <a:endParaRPr lang="ru-RU" dirty="0">
              <a:solidFill>
                <a:srgbClr val="A3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94765-EB09-7C3E-E4AE-4D4AEC22FA2F}"/>
                  </a:ext>
                </a:extLst>
              </p:cNvPr>
              <p:cNvSpPr txBox="1"/>
              <p:nvPr/>
            </p:nvSpPr>
            <p:spPr>
              <a:xfrm>
                <a:off x="866776" y="1290669"/>
                <a:ext cx="10477500" cy="4841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ru-RU" sz="2400" dirty="0"/>
                  <a:t>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" sz="2400" dirty="0"/>
                  <a:t>-SVM </a:t>
                </a:r>
                <a:r>
                  <a:rPr lang="ru-RU" sz="2400" dirty="0"/>
                  <a:t>доказаны следующие свойства:</a:t>
                </a:r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является верхней границей доли точек, лежащих внутри отступа</a:t>
                </a:r>
                <a:r>
                  <a:rPr lang="en-US" sz="2400" dirty="0"/>
                  <a:t>;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e>
                            </m:d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dirty="0"/>
                  <a:t>является нижней границей доли опорных векторов</a:t>
                </a:r>
                <a:r>
                  <a:rPr lang="en-US" sz="2400" dirty="0"/>
                  <a:t>. 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Таким образом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контролирует относительное число опорных векторов и ошибочных отступов</a:t>
                </a:r>
                <a:r>
                  <a:rPr lang="en-US" sz="2400" dirty="0"/>
                  <a:t> (</a:t>
                </a:r>
                <a:r>
                  <a:rPr lang="ru-RU" sz="2400" dirty="0"/>
                  <a:t>т.е. когда объект либо неправильно классифицирован, либо классифицирован верно, но выходит за пределы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𝑔𝑒𝑜𝑚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94765-EB09-7C3E-E4AE-4D4AEC22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6" y="1290669"/>
                <a:ext cx="10477500" cy="4841005"/>
              </a:xfrm>
              <a:prstGeom prst="rect">
                <a:avLst/>
              </a:prstGeom>
              <a:blipFill>
                <a:blip r:embed="rId4"/>
                <a:stretch>
                  <a:fillRect l="-969" t="-785" b="-2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8760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18763</TotalTime>
  <Words>2302</Words>
  <Application>Microsoft Macintosh PowerPoint</Application>
  <PresentationFormat>Широкоэкранный</PresentationFormat>
  <Paragraphs>509</Paragraphs>
  <Slides>48</Slides>
  <Notes>48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KaTeX_Main</vt:lpstr>
      <vt:lpstr>KaTeX_Math</vt:lpstr>
      <vt:lpstr>KaTeX_Size1</vt:lpstr>
      <vt:lpstr>quote-cjk-patch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Машин Иван Сергеевич</dc:creator>
  <cp:lastModifiedBy>Машин Иван Сергеевич</cp:lastModifiedBy>
  <cp:revision>351</cp:revision>
  <dcterms:created xsi:type="dcterms:W3CDTF">2026-01-13T18:05:14Z</dcterms:created>
  <dcterms:modified xsi:type="dcterms:W3CDTF">2026-02-12T11:24:56Z</dcterms:modified>
</cp:coreProperties>
</file>