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56" r:id="rId3"/>
    <p:sldId id="431" r:id="rId4"/>
    <p:sldId id="432" r:id="rId5"/>
    <p:sldId id="433" r:id="rId6"/>
    <p:sldId id="434" r:id="rId7"/>
    <p:sldId id="429" r:id="rId8"/>
    <p:sldId id="430" r:id="rId9"/>
    <p:sldId id="435" r:id="rId10"/>
    <p:sldId id="436" r:id="rId11"/>
    <p:sldId id="437" r:id="rId12"/>
    <p:sldId id="442" r:id="rId13"/>
    <p:sldId id="438" r:id="rId14"/>
    <p:sldId id="440" r:id="rId15"/>
    <p:sldId id="441" r:id="rId16"/>
    <p:sldId id="444" r:id="rId17"/>
    <p:sldId id="443" r:id="rId18"/>
    <p:sldId id="446" r:id="rId19"/>
    <p:sldId id="447" r:id="rId20"/>
    <p:sldId id="445" r:id="rId21"/>
    <p:sldId id="44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51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orient="horz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ED143F"/>
    <a:srgbClr val="D9D9D9"/>
    <a:srgbClr val="A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/>
    <p:restoredTop sz="82557"/>
  </p:normalViewPr>
  <p:slideViewPr>
    <p:cSldViewPr snapToGrid="0">
      <p:cViewPr>
        <p:scale>
          <a:sx n="108" d="100"/>
          <a:sy n="108" d="100"/>
        </p:scale>
        <p:origin x="1160" y="136"/>
      </p:cViewPr>
      <p:guideLst>
        <p:guide pos="551"/>
        <p:guide pos="7151"/>
        <p:guide orient="horz" pos="799"/>
        <p:guide orient="horz" pos="3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C3053-9815-1E4E-9BD9-DDBDDF90C93A}" type="datetimeFigureOut">
              <a:rPr lang="ru-RU" smtClean="0"/>
              <a:t>01.03.2026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E2245-93E0-1D4C-AAD6-8F094239DE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12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542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837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6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533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976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91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362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05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089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2497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856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675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703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629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965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298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829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421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7295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200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6E2245-93E0-1D4C-AAD6-8F094239DEB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763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46231-9C03-CE94-068F-CFAB113C2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91124A-995F-01ED-AFE4-84AC96400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FFF55B-4B3A-2FF6-B6FA-A89CF50A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632CD-8389-1245-995A-B0E3ED8B4398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5DA20A-9A53-C75D-C6D8-7A75C7E8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12E727-69AC-DD8E-F5BD-533EEC66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38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BA853-510C-E18D-5B46-9112CBDA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3B28E6-81CD-FB55-A2A3-47D19503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54895B-34D8-40B8-A3B3-BE6B856A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101D-B688-AF43-B318-829C4377635C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828BC-E382-3A75-4215-97476114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4D8C6-7995-FD72-F048-A1CA193E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88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1FA66-294B-B899-60E8-C6EF802F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75719C-6075-DAD9-F8F5-9AE67B84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41E2A0-75A5-ED73-44B1-255AD7E7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8BC07-EB19-9F45-BE27-2963E9B0B48D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CAD8CE-DFE7-DF06-BDF5-362ADB72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1AE73-FC8C-D4E4-E76D-9279AFEC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888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6AAA2-A52F-193D-17F7-333C0434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F870E-CE80-9069-87C9-0A4E07796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D17865-93F8-3579-583D-C47BB59DC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7D613D-223A-1E1C-C08B-E6449ADC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868BB-A9D4-5641-9F9A-EB2DD4AA31C5}" type="datetime1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F0F6C3-E74C-5A72-B3F7-27547C26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D956DE-CF7C-321C-6E88-08F17326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358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0C42D-F936-1A9D-9951-E0845A933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AF0349-752F-D01B-4E7D-FACA0FEB9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C30DB0-70C1-C87A-0F02-5D7B63B07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2701A5-D9DF-2628-7437-442EF49A9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3494A7-3EDF-8870-05B0-2A2D70153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F40F54B-115D-E9F7-76EA-7DF45189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E3D48-AC43-0C45-A211-BD9E02EE79FD}" type="datetime1">
              <a:rPr lang="ru-RU" smtClean="0"/>
              <a:t>01.03.2026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0778B32-3995-3123-3060-DF459334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C13CE3-5D78-67C4-0133-F72E3442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85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E1B0E-52EF-CA72-7C02-56256DFC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D6EFAC-718A-DFEA-22D1-B29CB337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E6FC9-8EE9-664F-BB30-AF6EAF7301D2}" type="datetime1">
              <a:rPr lang="ru-RU" smtClean="0"/>
              <a:t>01.03.2026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16D2CC-35B6-76FA-3B63-1BC544BE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553D66-5512-23DE-746A-DBFB71D8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78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53609F8-638C-CDB4-AA04-C9895723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2EBEA-9B05-2E4C-ABA0-8F4F29106B60}" type="datetime1">
              <a:rPr lang="ru-RU" smtClean="0"/>
              <a:t>01.03.2026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03FBA3-9BE6-5733-B025-268741BB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00051-4A3E-BA82-0EF4-A977BDC2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97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2F77A-7D21-C8ED-83BA-ECD576EB2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DA093-BC7D-4A4D-72BB-9A3D42B37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B3E5E-B3CA-6A01-9827-ECDEF99C4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0C7D4C-5E3D-8DCC-667B-2BE4B441A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F8C7-84D5-324D-9A02-246D0F05FBA0}" type="datetime1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63A584-6F60-CD09-0A82-024F31027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8D2DDA-156A-17A4-8F70-0FA5A9D0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90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87613-1C60-9285-EA5B-B27EFBE4F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F2F285-B5E4-3A61-8C11-59BE75403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ED5DC-DEA7-5C74-852A-619EFE3D2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F4BDDC-1384-B353-1425-2B1860AE3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5F93-BF8B-AB42-BA8E-4EFE9708333A}" type="datetime1">
              <a:rPr lang="ru-RU" smtClean="0"/>
              <a:t>01.03.2026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E53E7B-C02A-3485-7A27-70EDF538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3AB8C-3054-56CB-60EA-C0584501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1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AB16A-260A-8FA9-B365-B75F6179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D88B74-A9AC-CA55-68A1-8A022D32C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DFC033-789D-127D-B35E-AFC11896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259E-A561-2D44-9B04-967DF9F98D09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D82A4-369E-A78B-B202-D3A0D3496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193F1-45BE-AD3B-5E75-3062B025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24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06073D-9832-17B2-CCA8-3079803680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354123-8E8C-8077-4E8F-87DCAC8D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4C3328-7905-3756-4F28-2777F444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CECB-94BA-924B-A942-77557F9D039C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96747F-3ACF-54D6-91FD-F56EAB3C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14CC5E-A100-A05C-BEAB-657BB7B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65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19528-3873-4AD2-FF0C-4D2011DD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7EA3B1-0810-0F30-5393-E72F24028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32951C-0338-6FFB-00E3-5D69FA50A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5B2A1-2C22-A747-A7A0-39A3B6D3177D}" type="datetime1">
              <a:rPr lang="ru-RU" smtClean="0"/>
              <a:t>01.03.2026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6252B8-09F6-06A1-8E27-BA60B80C5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453B19-50A3-1DB7-54BE-D6A2FE344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230E5-A68B-4B40-B2FD-B0A09B4ABA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92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F88E2D5-D086-DA1C-B340-980D721C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154318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Dimensionality reduction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1820140" y="1766454"/>
            <a:ext cx="8551719" cy="1153391"/>
          </a:xfrm>
          <a:prstGeom prst="roundRect">
            <a:avLst/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A30000"/>
                </a:solidFill>
              </a:rPr>
              <a:t>Лекция</a:t>
            </a:r>
            <a:r>
              <a:rPr lang="en-US" sz="4000" dirty="0">
                <a:solidFill>
                  <a:srgbClr val="A30000"/>
                </a:solidFill>
              </a:rPr>
              <a:t> 11: Decision trees</a:t>
            </a:r>
            <a:endParaRPr lang="ru-RU" sz="4000" dirty="0">
              <a:solidFill>
                <a:srgbClr val="A3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567BA-38D5-2BF5-75F8-A8B574F1825C}"/>
              </a:ext>
            </a:extLst>
          </p:cNvPr>
          <p:cNvSpPr txBox="1"/>
          <p:nvPr/>
        </p:nvSpPr>
        <p:spPr>
          <a:xfrm>
            <a:off x="3049732" y="3429000"/>
            <a:ext cx="6099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dirty="0"/>
              <a:t>Машин Иван</a:t>
            </a:r>
            <a:r>
              <a:rPr lang="en-US" sz="2400" dirty="0"/>
              <a:t> </a:t>
            </a:r>
            <a:r>
              <a:rPr lang="ru-RU" sz="2400" dirty="0"/>
              <a:t>Сергеевич</a:t>
            </a:r>
            <a:endParaRPr lang="ru-RU" sz="2400" b="0" dirty="0"/>
          </a:p>
          <a:p>
            <a:pPr algn="ctr"/>
            <a:endParaRPr lang="ru-RU" sz="2400" b="0" dirty="0"/>
          </a:p>
          <a:p>
            <a:pPr algn="ctr"/>
            <a:r>
              <a:rPr lang="ru-RU" sz="2400" dirty="0"/>
              <a:t>март 2026</a:t>
            </a:r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353116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Логические методы классификации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4C230-8AF5-F911-24C8-04E5286EACBE}"/>
              </a:ext>
            </a:extLst>
          </p:cNvPr>
          <p:cNvSpPr txBox="1"/>
          <p:nvPr/>
        </p:nvSpPr>
        <p:spPr>
          <a:xfrm>
            <a:off x="874713" y="1754642"/>
            <a:ext cx="10413813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Набор конъюнкций и дизъюнкций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Синдром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Полуплоскость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Шар</a:t>
            </a:r>
          </a:p>
          <a:p>
            <a:pPr>
              <a:lnSpc>
                <a:spcPct val="150000"/>
              </a:lnSpc>
              <a:buClr>
                <a:srgbClr val="A30000"/>
              </a:buClr>
            </a:pPr>
            <a:endParaRPr lang="ru-RU" sz="2400" dirty="0"/>
          </a:p>
          <a:p>
            <a:pPr>
              <a:lnSpc>
                <a:spcPct val="150000"/>
              </a:lnSpc>
              <a:buClr>
                <a:srgbClr val="A30000"/>
              </a:buClr>
            </a:pPr>
            <a:r>
              <a:rPr lang="ru-RU" sz="2400" dirty="0"/>
              <a:t>Рекомендации: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Правил около 2-5, не более 7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89619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1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Логические методы классификации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/>
              <p:nvPr/>
            </p:nvSpPr>
            <p:spPr>
              <a:xfrm>
                <a:off x="889093" y="1115204"/>
                <a:ext cx="10413813" cy="5191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Набор конъюнкций и дизъюнкций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Синдром</a:t>
                </a:r>
                <a:endParaRPr lang="en-US" sz="2400" dirty="0"/>
              </a:p>
              <a:p>
                <a:pPr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Полуплоскость</a:t>
                </a:r>
                <a:endParaRPr lang="en-US" sz="2400" dirty="0"/>
              </a:p>
              <a:p>
                <a:pPr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Шар</a:t>
                </a:r>
              </a:p>
              <a:p>
                <a:pPr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93" y="1115204"/>
                <a:ext cx="10413813" cy="5191934"/>
              </a:xfrm>
              <a:prstGeom prst="rect">
                <a:avLst/>
              </a:prstGeom>
              <a:blipFill>
                <a:blip r:embed="rId3"/>
                <a:stretch>
                  <a:fillRect l="-854" b="-156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16288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1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Р</a:t>
            </a:r>
            <a:r>
              <a:rPr lang="ru-RU" sz="3600" dirty="0" err="1">
                <a:solidFill>
                  <a:srgbClr val="A30000"/>
                </a:solidFill>
              </a:rPr>
              <a:t>ешающие</a:t>
            </a:r>
            <a:r>
              <a:rPr lang="ru-RU" sz="3600" dirty="0">
                <a:solidFill>
                  <a:srgbClr val="A30000"/>
                </a:solidFill>
              </a:rPr>
              <a:t> деревья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502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Определение: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b="0" dirty="0"/>
                  <a:t>вершины дерева,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0" dirty="0" err="1"/>
                  <a:t>к</a:t>
                </a:r>
                <a:r>
                  <a:rPr lang="ru-RU" sz="2400" b="0" dirty="0" err="1"/>
                  <a:t>орневая</a:t>
                </a:r>
                <a:r>
                  <a:rPr lang="ru-RU" sz="2400" b="0" dirty="0"/>
                  <a:t> вершина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b="0" dirty="0"/>
                  <a:t>предикаты</a:t>
                </a:r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Движение по дереву:</a:t>
                </a:r>
                <a:endParaRPr lang="en-US" sz="2400" b="0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движение к левой вершине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движение к правой вершине</a:t>
                </a:r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Для всех листовых (терминальных) 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оп</a:t>
                </a:r>
                <a:r>
                  <a:rPr lang="ru-RU" sz="2400" dirty="0"/>
                  <a:t>ределено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 err="1"/>
                  <a:t>пр</a:t>
                </a:r>
                <a:r>
                  <a:rPr lang="ru-RU" sz="2400" dirty="0" err="1"/>
                  <a:t>огноз</a:t>
                </a:r>
                <a:endParaRPr lang="ru-RU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84C230-8AF5-F911-24C8-04E5286EA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5020092"/>
              </a:xfrm>
              <a:prstGeom prst="rect">
                <a:avLst/>
              </a:prstGeom>
              <a:blipFill>
                <a:blip r:embed="rId3"/>
                <a:stretch>
                  <a:fillRect l="-853" b="-17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480178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06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Р</a:t>
            </a:r>
            <a:r>
              <a:rPr lang="ru-RU" sz="3600" dirty="0" err="1">
                <a:solidFill>
                  <a:srgbClr val="A30000"/>
                </a:solidFill>
              </a:rPr>
              <a:t>ешающие</a:t>
            </a:r>
            <a:r>
              <a:rPr lang="ru-RU" sz="3600" dirty="0">
                <a:solidFill>
                  <a:srgbClr val="A30000"/>
                </a:solidFill>
              </a:rPr>
              <a:t> деревья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083324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21FFDCC7-F827-253F-EB80-3C2E65565820}"/>
              </a:ext>
            </a:extLst>
          </p:cNvPr>
          <p:cNvGrpSpPr/>
          <p:nvPr/>
        </p:nvGrpSpPr>
        <p:grpSpPr>
          <a:xfrm>
            <a:off x="1640910" y="3965943"/>
            <a:ext cx="9006074" cy="861636"/>
            <a:chOff x="1640910" y="3241109"/>
            <a:chExt cx="9006074" cy="861636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1F395DAD-07DF-4A58-8156-5317B2F867FD}"/>
                </a:ext>
              </a:extLst>
            </p:cNvPr>
            <p:cNvSpPr/>
            <p:nvPr/>
          </p:nvSpPr>
          <p:spPr>
            <a:xfrm>
              <a:off x="1640910" y="3250505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9D876F1E-F3E0-3F9D-AA1E-3A43EF3EAF06}"/>
                </a:ext>
              </a:extLst>
            </p:cNvPr>
            <p:cNvSpPr/>
            <p:nvPr/>
          </p:nvSpPr>
          <p:spPr>
            <a:xfrm>
              <a:off x="2091847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43651E03-E4FC-A571-2AE8-16DF3C6DE9F1}"/>
                </a:ext>
              </a:extLst>
            </p:cNvPr>
            <p:cNvSpPr/>
            <p:nvPr/>
          </p:nvSpPr>
          <p:spPr>
            <a:xfrm>
              <a:off x="2542784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2ED4A2B0-A3FC-FFB7-4020-EB0BC2D6AE68}"/>
                </a:ext>
              </a:extLst>
            </p:cNvPr>
            <p:cNvSpPr/>
            <p:nvPr/>
          </p:nvSpPr>
          <p:spPr>
            <a:xfrm>
              <a:off x="2993721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836D4AD0-DD14-0AC7-B856-9A901C70F1DE}"/>
                </a:ext>
              </a:extLst>
            </p:cNvPr>
            <p:cNvSpPr/>
            <p:nvPr/>
          </p:nvSpPr>
          <p:spPr>
            <a:xfrm>
              <a:off x="3444658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5B474D9-7192-B911-3D90-094C6E0A4279}"/>
                </a:ext>
              </a:extLst>
            </p:cNvPr>
            <p:cNvSpPr/>
            <p:nvPr/>
          </p:nvSpPr>
          <p:spPr>
            <a:xfrm>
              <a:off x="3895595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CBFEC137-1FBE-2AE3-2490-F7375EC81FC0}"/>
                </a:ext>
              </a:extLst>
            </p:cNvPr>
            <p:cNvSpPr/>
            <p:nvPr/>
          </p:nvSpPr>
          <p:spPr>
            <a:xfrm>
              <a:off x="4346532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971639FB-EE45-DA01-05B4-604297A5B5F0}"/>
                </a:ext>
              </a:extLst>
            </p:cNvPr>
            <p:cNvSpPr/>
            <p:nvPr/>
          </p:nvSpPr>
          <p:spPr>
            <a:xfrm>
              <a:off x="4797469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BED541A3-7C38-5EBB-E810-326FAA6C8B0E}"/>
                </a:ext>
              </a:extLst>
            </p:cNvPr>
            <p:cNvSpPr/>
            <p:nvPr/>
          </p:nvSpPr>
          <p:spPr>
            <a:xfrm>
              <a:off x="5248406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1C6E8692-2657-D29E-4E76-00B027ED25B7}"/>
                </a:ext>
              </a:extLst>
            </p:cNvPr>
            <p:cNvSpPr/>
            <p:nvPr/>
          </p:nvSpPr>
          <p:spPr>
            <a:xfrm>
              <a:off x="5699343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8BE44DF2-8BBB-BA2F-989A-52D9A16BC654}"/>
                </a:ext>
              </a:extLst>
            </p:cNvPr>
            <p:cNvSpPr/>
            <p:nvPr/>
          </p:nvSpPr>
          <p:spPr>
            <a:xfrm>
              <a:off x="6145563" y="3247373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59ECA1E-0CA7-2EB3-1D97-D34D6AA22A31}"/>
                </a:ext>
              </a:extLst>
            </p:cNvPr>
            <p:cNvSpPr/>
            <p:nvPr/>
          </p:nvSpPr>
          <p:spPr>
            <a:xfrm>
              <a:off x="6596500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C436DB6E-121A-D47F-F9AB-BF6E7384C1EB}"/>
                </a:ext>
              </a:extLst>
            </p:cNvPr>
            <p:cNvSpPr/>
            <p:nvPr/>
          </p:nvSpPr>
          <p:spPr>
            <a:xfrm>
              <a:off x="7047437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F5C98429-2995-6406-0FA1-51F7AE2F0495}"/>
                </a:ext>
              </a:extLst>
            </p:cNvPr>
            <p:cNvSpPr/>
            <p:nvPr/>
          </p:nvSpPr>
          <p:spPr>
            <a:xfrm>
              <a:off x="7498374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9BADB6BB-6E38-137B-7039-D3A923F5F768}"/>
                </a:ext>
              </a:extLst>
            </p:cNvPr>
            <p:cNvSpPr/>
            <p:nvPr/>
          </p:nvSpPr>
          <p:spPr>
            <a:xfrm>
              <a:off x="7949311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F8CB082-7141-6DCC-4C7F-40779848634E}"/>
                </a:ext>
              </a:extLst>
            </p:cNvPr>
            <p:cNvSpPr/>
            <p:nvPr/>
          </p:nvSpPr>
          <p:spPr>
            <a:xfrm>
              <a:off x="8400248" y="3244241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12851075-70C3-ADAA-E8FA-C9853E5DBDE4}"/>
                </a:ext>
              </a:extLst>
            </p:cNvPr>
            <p:cNvSpPr/>
            <p:nvPr/>
          </p:nvSpPr>
          <p:spPr>
            <a:xfrm>
              <a:off x="8851185" y="3241109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A177F48-9BD6-BBD3-A84F-EC82953D780B}"/>
                </a:ext>
              </a:extLst>
            </p:cNvPr>
            <p:cNvSpPr/>
            <p:nvPr/>
          </p:nvSpPr>
          <p:spPr>
            <a:xfrm>
              <a:off x="9302122" y="3241109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Овал 22">
              <a:extLst>
                <a:ext uri="{FF2B5EF4-FFF2-40B4-BE49-F238E27FC236}">
                  <a16:creationId xmlns:a16="http://schemas.microsoft.com/office/drawing/2014/main" id="{6934EB9D-9C9B-3AE8-FCFC-8CB8BB709384}"/>
                </a:ext>
              </a:extLst>
            </p:cNvPr>
            <p:cNvSpPr/>
            <p:nvPr/>
          </p:nvSpPr>
          <p:spPr>
            <a:xfrm>
              <a:off x="9753059" y="3241109"/>
              <a:ext cx="375781" cy="375781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79F04803-108E-D87D-3ED1-2B580557F990}"/>
                </a:ext>
              </a:extLst>
            </p:cNvPr>
            <p:cNvSpPr/>
            <p:nvPr/>
          </p:nvSpPr>
          <p:spPr>
            <a:xfrm>
              <a:off x="10203996" y="3241109"/>
              <a:ext cx="375781" cy="375781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676040-CF04-F81F-001E-E92169682763}"/>
                </a:ext>
              </a:extLst>
            </p:cNvPr>
            <p:cNvSpPr txBox="1"/>
            <p:nvPr/>
          </p:nvSpPr>
          <p:spPr>
            <a:xfrm>
              <a:off x="1658722" y="364108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61D6F9D-7BC5-7B18-4562-7FDF71ECDE19}"/>
                </a:ext>
              </a:extLst>
            </p:cNvPr>
            <p:cNvSpPr txBox="1"/>
            <p:nvPr/>
          </p:nvSpPr>
          <p:spPr>
            <a:xfrm>
              <a:off x="2109658" y="36408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3CD297-8A53-713F-F922-40FF7301670D}"/>
                </a:ext>
              </a:extLst>
            </p:cNvPr>
            <p:cNvSpPr txBox="1"/>
            <p:nvPr/>
          </p:nvSpPr>
          <p:spPr>
            <a:xfrm>
              <a:off x="2573690" y="36408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3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8D3B66-6142-CA08-66DF-67654E05B5D4}"/>
                </a:ext>
              </a:extLst>
            </p:cNvPr>
            <p:cNvSpPr txBox="1"/>
            <p:nvPr/>
          </p:nvSpPr>
          <p:spPr>
            <a:xfrm>
              <a:off x="3024627" y="3641079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4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A893AF5-80F6-BE62-BDA3-41084460782F}"/>
                </a:ext>
              </a:extLst>
            </p:cNvPr>
            <p:cNvSpPr txBox="1"/>
            <p:nvPr/>
          </p:nvSpPr>
          <p:spPr>
            <a:xfrm>
              <a:off x="3467187" y="364108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5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2E7C8D3-D571-8D26-8391-86DA63405865}"/>
                </a:ext>
              </a:extLst>
            </p:cNvPr>
            <p:cNvSpPr txBox="1"/>
            <p:nvPr/>
          </p:nvSpPr>
          <p:spPr>
            <a:xfrm>
              <a:off x="3918123" y="36408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95F7B9-13C0-CB95-32D9-C7F80021B445}"/>
                </a:ext>
              </a:extLst>
            </p:cNvPr>
            <p:cNvSpPr txBox="1"/>
            <p:nvPr/>
          </p:nvSpPr>
          <p:spPr>
            <a:xfrm>
              <a:off x="4382155" y="3640800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7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4C35AC-688B-9A3E-A170-CC19653CD11E}"/>
                </a:ext>
              </a:extLst>
            </p:cNvPr>
            <p:cNvSpPr txBox="1"/>
            <p:nvPr/>
          </p:nvSpPr>
          <p:spPr>
            <a:xfrm>
              <a:off x="4833092" y="3641079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8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6A9C650-CB51-64FA-71C7-03DAD97C880E}"/>
                </a:ext>
              </a:extLst>
            </p:cNvPr>
            <p:cNvSpPr txBox="1"/>
            <p:nvPr/>
          </p:nvSpPr>
          <p:spPr>
            <a:xfrm>
              <a:off x="5262556" y="3640801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9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C99FCD6-14AA-4D06-5233-762D2AA5A819}"/>
                </a:ext>
              </a:extLst>
            </p:cNvPr>
            <p:cNvSpPr txBox="1"/>
            <p:nvPr/>
          </p:nvSpPr>
          <p:spPr>
            <a:xfrm>
              <a:off x="5638822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10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9B8980-5D6F-C43E-9EBE-59FF70C068E6}"/>
                </a:ext>
              </a:extLst>
            </p:cNvPr>
            <p:cNvSpPr txBox="1"/>
            <p:nvPr/>
          </p:nvSpPr>
          <p:spPr>
            <a:xfrm>
              <a:off x="6085628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F5A0538-F777-A957-45B7-080B8AD887B7}"/>
                </a:ext>
              </a:extLst>
            </p:cNvPr>
            <p:cNvSpPr txBox="1"/>
            <p:nvPr/>
          </p:nvSpPr>
          <p:spPr>
            <a:xfrm>
              <a:off x="6536449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449C05-486F-FB02-06BE-80BD46952DB0}"/>
                </a:ext>
              </a:extLst>
            </p:cNvPr>
            <p:cNvSpPr txBox="1"/>
            <p:nvPr/>
          </p:nvSpPr>
          <p:spPr>
            <a:xfrm>
              <a:off x="6983255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D789E6D-59D8-FE77-6503-085BF6F4EA4B}"/>
                </a:ext>
              </a:extLst>
            </p:cNvPr>
            <p:cNvSpPr txBox="1"/>
            <p:nvPr/>
          </p:nvSpPr>
          <p:spPr>
            <a:xfrm>
              <a:off x="7447287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B518466-0E4C-10C9-7494-3C316BD24DE2}"/>
                </a:ext>
              </a:extLst>
            </p:cNvPr>
            <p:cNvSpPr txBox="1"/>
            <p:nvPr/>
          </p:nvSpPr>
          <p:spPr>
            <a:xfrm>
              <a:off x="7894093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5552F75-97BC-24C2-D70B-B365E9C4CA2A}"/>
                </a:ext>
              </a:extLst>
            </p:cNvPr>
            <p:cNvSpPr txBox="1"/>
            <p:nvPr/>
          </p:nvSpPr>
          <p:spPr>
            <a:xfrm>
              <a:off x="8344914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16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BF76F92-1F15-3D1E-C7C3-DE90DE3961B7}"/>
                </a:ext>
              </a:extLst>
            </p:cNvPr>
            <p:cNvSpPr txBox="1"/>
            <p:nvPr/>
          </p:nvSpPr>
          <p:spPr>
            <a:xfrm>
              <a:off x="8791720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17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A60DDE5-A3F8-B199-FE3B-C7691DCCF125}"/>
                </a:ext>
              </a:extLst>
            </p:cNvPr>
            <p:cNvSpPr txBox="1"/>
            <p:nvPr/>
          </p:nvSpPr>
          <p:spPr>
            <a:xfrm>
              <a:off x="9253708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18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739D0F6-8389-D077-0CC6-1D2D1A874916}"/>
                </a:ext>
              </a:extLst>
            </p:cNvPr>
            <p:cNvSpPr txBox="1"/>
            <p:nvPr/>
          </p:nvSpPr>
          <p:spPr>
            <a:xfrm>
              <a:off x="9704529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19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4FDEB8E-0626-38A8-C0A4-4114933D716C}"/>
                </a:ext>
              </a:extLst>
            </p:cNvPr>
            <p:cNvSpPr txBox="1"/>
            <p:nvPr/>
          </p:nvSpPr>
          <p:spPr>
            <a:xfrm>
              <a:off x="10151335" y="3640242"/>
              <a:ext cx="4956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/>
                <a:t>20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1696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Определение: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1696105"/>
              </a:xfrm>
              <a:prstGeom prst="rect">
                <a:avLst/>
              </a:prstGeom>
              <a:blipFill>
                <a:blip r:embed="rId3"/>
                <a:stretch>
                  <a:fillRect l="-853" b="-59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486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П</a:t>
            </a:r>
            <a:r>
              <a:rPr lang="ru-RU" sz="3600" dirty="0" err="1">
                <a:solidFill>
                  <a:srgbClr val="A30000"/>
                </a:solidFill>
              </a:rPr>
              <a:t>остроение</a:t>
            </a:r>
            <a:r>
              <a:rPr lang="ru-RU" sz="3600" dirty="0">
                <a:solidFill>
                  <a:srgbClr val="A30000"/>
                </a:solidFill>
              </a:rPr>
              <a:t> дерева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80879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479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Постановка: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𝑁𝑥𝐷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2400" b="0" dirty="0"/>
                  <a:t>функция потерь на принятых решениях алгоритмом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Ищем на каждом узле: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𝑜𝑝𝑡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𝑜𝑝𝑡</m:t>
                              </m:r>
                            </m:sub>
                          </m:sSub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d>
                                    <m:d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b="0" dirty="0"/>
                  <a:t>При глуб</a:t>
                </a:r>
                <a:r>
                  <a:rPr lang="ru-RU" sz="2400" dirty="0"/>
                  <a:t>ине дерева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dirty="0"/>
                  <a:t> </a:t>
                </a:r>
                <a:r>
                  <a:rPr lang="en-US" sz="2400" b="0" dirty="0" err="1"/>
                  <a:t>с</a:t>
                </a:r>
                <a:r>
                  <a:rPr lang="ru-RU" sz="2400" dirty="0"/>
                  <a:t>ложность алгоритма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𝐷𝑘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ru-RU" sz="24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полная задача</a:t>
                </a:r>
                <a:endParaRPr lang="en-US" sz="24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4796249"/>
              </a:xfrm>
              <a:prstGeom prst="rect">
                <a:avLst/>
              </a:prstGeom>
              <a:blipFill>
                <a:blip r:embed="rId3"/>
                <a:stretch>
                  <a:fillRect l="-853" b="-2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64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Построение дерева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902546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5DDDD90-74C3-3B86-8153-3929B27F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4" y="641984"/>
            <a:ext cx="11144992" cy="613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38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Построение дерева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945411"/>
              </p:ext>
            </p:extLst>
          </p:nvPr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23A69BA-E8FE-8E37-78F3-78FC0A0B1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5" y="639715"/>
            <a:ext cx="11914909" cy="603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1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Варианты определения функций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93F81CB3-88F9-0CED-09FC-130BACA07D31}"/>
              </a:ext>
            </a:extLst>
          </p:cNvPr>
          <p:cNvSpPr txBox="1"/>
          <p:nvPr/>
        </p:nvSpPr>
        <p:spPr>
          <a:xfrm>
            <a:off x="874713" y="1195953"/>
            <a:ext cx="10413813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A30000"/>
              </a:buClr>
            </a:pPr>
            <a:r>
              <a:rPr lang="en-US" sz="2400" b="1" dirty="0" err="1"/>
              <a:t>ans</a:t>
            </a:r>
            <a:r>
              <a:rPr lang="en-US" sz="2400" b="1" dirty="0"/>
              <a:t>(x)</a:t>
            </a:r>
            <a:r>
              <a:rPr lang="ru-RU" sz="2400" b="1" dirty="0"/>
              <a:t>: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en-US" sz="2400" dirty="0"/>
              <a:t>Classification:</a:t>
            </a:r>
          </a:p>
          <a:p>
            <a:pPr marL="742950" lvl="1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Метки самого частого класса</a:t>
            </a:r>
          </a:p>
          <a:p>
            <a:pPr marL="742950" lvl="1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/>
              <a:t>Оценка дискретного распределения вероятностей классов в этом листе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 err="1"/>
              <a:t>R</a:t>
            </a:r>
            <a:r>
              <a:rPr lang="en-US" sz="2400" dirty="0"/>
              <a:t>egression:</a:t>
            </a:r>
          </a:p>
          <a:p>
            <a:pPr marL="742950" lvl="1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en-US" sz="2400" dirty="0"/>
              <a:t>mean</a:t>
            </a:r>
          </a:p>
          <a:p>
            <a:pPr marL="742950" lvl="1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en-US" sz="2400" dirty="0"/>
              <a:t>medial</a:t>
            </a:r>
          </a:p>
          <a:p>
            <a:pPr marL="742950" lvl="1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en-US" sz="2400" dirty="0"/>
              <a:t>Other statistics</a:t>
            </a:r>
          </a:p>
          <a:p>
            <a:pPr marL="285750" indent="-285750">
              <a:lnSpc>
                <a:spcPct val="150000"/>
              </a:lnSpc>
              <a:buClr>
                <a:srgbClr val="A30000"/>
              </a:buClr>
              <a:buFont typeface="Wingdings" pitchFamily="2" charset="2"/>
              <a:buChar char="§"/>
            </a:pPr>
            <a:r>
              <a:rPr lang="ru-RU" sz="2400" dirty="0" err="1"/>
              <a:t>S</a:t>
            </a:r>
            <a:r>
              <a:rPr lang="en-US" sz="2400" dirty="0" err="1"/>
              <a:t>imple</a:t>
            </a:r>
            <a:r>
              <a:rPr lang="en-US" sz="2400" dirty="0"/>
              <a:t> model on </a:t>
            </a:r>
            <a:r>
              <a:rPr lang="en-US" sz="2400" dirty="0" err="1"/>
              <a:t>leafs</a:t>
            </a:r>
            <a:r>
              <a:rPr lang="en-US" sz="240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84358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Варианты определения функций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3358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" sz="2400" b="1" dirty="0"/>
                  <a:t>s</a:t>
                </a:r>
                <a:r>
                  <a:rPr lang="en-US" sz="2400" b="1" dirty="0"/>
                  <a:t>top(x, …)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en-US" sz="2400" b="1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𝑑𝑒𝑝𝑡h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𝑙𝑒𝑛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𝑛𝑜𝑑𝑒𝑠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b="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sz="2400" b="0" dirty="0"/>
                  <a:t> достаточно однородные (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𝑖𝑚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𝑝𝑢𝑟𝑖𝑡𝑦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~ 0</m:t>
                    </m:r>
                  </m:oMath>
                </a14:m>
                <a:r>
                  <a:rPr lang="en-US" sz="2400" b="0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2400" b="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3358099"/>
              </a:xfrm>
              <a:prstGeom prst="rect">
                <a:avLst/>
              </a:prstGeom>
              <a:blipFill>
                <a:blip r:embed="rId3"/>
                <a:stretch>
                  <a:fillRect l="-853" b="-22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8661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К</a:t>
            </a:r>
            <a:r>
              <a:rPr lang="ru-RU" sz="3600" dirty="0" err="1">
                <a:solidFill>
                  <a:srgbClr val="A30000"/>
                </a:solidFill>
              </a:rPr>
              <a:t>ритерии</a:t>
            </a:r>
            <a:r>
              <a:rPr lang="ru-RU" sz="3600" dirty="0">
                <a:solidFill>
                  <a:srgbClr val="A30000"/>
                </a:solidFill>
              </a:rPr>
              <a:t> информативности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4773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-US" sz="2400" b="1" dirty="0"/>
                  <a:t>best_split(x)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прогноз (ответ дерева)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mr>
                      <m:m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nary>
                        </m:e>
                      </m:mr>
                    </m:m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прогноз в виде вероятностного распределения классов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Пусть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𝐿𝑜𝑠𝑠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Ищем: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nary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1" dirty="0"/>
                  <a:t>impurity (</a:t>
                </a:r>
                <a:r>
                  <a:rPr lang="ru-RU" sz="2400" b="1" dirty="0"/>
                  <a:t>информативность)</a:t>
                </a: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4773102"/>
              </a:xfrm>
              <a:prstGeom prst="rect">
                <a:avLst/>
              </a:prstGeom>
              <a:blipFill>
                <a:blip r:embed="rId3"/>
                <a:stretch>
                  <a:fillRect l="-1705" b="-37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16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К</a:t>
            </a:r>
            <a:r>
              <a:rPr lang="ru-RU" sz="3600" dirty="0" err="1">
                <a:solidFill>
                  <a:srgbClr val="A30000"/>
                </a:solidFill>
              </a:rPr>
              <a:t>ритерии</a:t>
            </a:r>
            <a:r>
              <a:rPr lang="ru-RU" sz="3600" dirty="0">
                <a:solidFill>
                  <a:srgbClr val="A30000"/>
                </a:solidFill>
              </a:rPr>
              <a:t> информативности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5DAE11-EB75-AD84-8928-DE25183D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997" y="916292"/>
            <a:ext cx="8616006" cy="557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99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К</a:t>
            </a:r>
            <a:r>
              <a:rPr lang="ru-RU" sz="3600" dirty="0" err="1">
                <a:solidFill>
                  <a:srgbClr val="A30000"/>
                </a:solidFill>
              </a:rPr>
              <a:t>ритерии</a:t>
            </a:r>
            <a:r>
              <a:rPr lang="ru-RU" sz="3600" dirty="0">
                <a:solidFill>
                  <a:srgbClr val="A30000"/>
                </a:solidFill>
              </a:rPr>
              <a:t> информативности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4996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-US" sz="2400" b="1" dirty="0"/>
                  <a:t>best_split(x)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Ищем: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nary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1" dirty="0"/>
                  <a:t>impurity (</a:t>
                </a:r>
                <a:r>
                  <a:rPr lang="ru-RU" sz="2400" b="1" dirty="0"/>
                  <a:t>информативность)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1" dirty="0"/>
                  <a:t>information gain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-US" sz="2400" b="1" dirty="0"/>
                  <a:t>Losses: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𝑖𝑠𝑐𝑙𝑎𝑠𝑠𝑖𝑓𝑖𝑐𝑎𝑡𝑖𝑜𝑛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𝑒𝑟𝑟𝑜𝑟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4996752"/>
              </a:xfrm>
              <a:prstGeom prst="rect">
                <a:avLst/>
              </a:prstGeom>
              <a:blipFill>
                <a:blip r:embed="rId3"/>
                <a:stretch>
                  <a:fillRect l="-853" b="-12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266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К</a:t>
            </a:r>
            <a:r>
              <a:rPr lang="ru-RU" sz="3600" dirty="0" err="1">
                <a:solidFill>
                  <a:srgbClr val="A30000"/>
                </a:solidFill>
              </a:rPr>
              <a:t>ритерии</a:t>
            </a:r>
            <a:r>
              <a:rPr lang="ru-RU" sz="3600" dirty="0">
                <a:solidFill>
                  <a:srgbClr val="A30000"/>
                </a:solidFill>
              </a:rPr>
              <a:t> информативности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/>
              <p:nvPr/>
            </p:nvSpPr>
            <p:spPr>
              <a:xfrm>
                <a:off x="874713" y="1195953"/>
                <a:ext cx="10413813" cy="4440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-US" sz="2400" b="1" dirty="0"/>
                  <a:t>best_split(x)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Ищем: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⊔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nary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1" dirty="0"/>
                  <a:t>impurity (</a:t>
                </a:r>
                <a:r>
                  <a:rPr lang="ru-RU" sz="2400" b="1" dirty="0"/>
                  <a:t>информативность)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2400" b="1" dirty="0"/>
                  <a:t>information gain</a:t>
                </a: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en-US" sz="2400" b="1" dirty="0"/>
                  <a:t>Losses: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𝐿𝑖𝑘𝑒𝑙𝑦h𝑜𝑜𝑑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𝐵𝑟𝑖𝑒𝑟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=∑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3F81CB3-88F9-0CED-09FC-130BACA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95953"/>
                <a:ext cx="10413813" cy="4440255"/>
              </a:xfrm>
              <a:prstGeom prst="rect">
                <a:avLst/>
              </a:prstGeom>
              <a:blipFill>
                <a:blip r:embed="rId3"/>
                <a:stretch>
                  <a:fillRect l="-853" b="-51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76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К</a:t>
            </a:r>
            <a:r>
              <a:rPr lang="ru-RU" sz="3600" dirty="0" err="1">
                <a:solidFill>
                  <a:srgbClr val="A30000"/>
                </a:solidFill>
              </a:rPr>
              <a:t>ритерии</a:t>
            </a:r>
            <a:r>
              <a:rPr lang="ru-RU" sz="3600" dirty="0">
                <a:solidFill>
                  <a:srgbClr val="A30000"/>
                </a:solidFill>
              </a:rPr>
              <a:t> информативности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38B8BB-B271-B273-5ADA-9C45E90A3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200" y="925738"/>
            <a:ext cx="8616006" cy="557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1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ru-RU" sz="3600" dirty="0" err="1">
                <a:solidFill>
                  <a:srgbClr val="A30000"/>
                </a:solidFill>
              </a:rPr>
              <a:t>O</a:t>
            </a:r>
            <a:r>
              <a:rPr lang="en-US" sz="3600" dirty="0" err="1">
                <a:solidFill>
                  <a:srgbClr val="A30000"/>
                </a:solidFill>
              </a:rPr>
              <a:t>verfitting</a:t>
            </a:r>
            <a:r>
              <a:rPr lang="en-US" sz="3600" dirty="0">
                <a:solidFill>
                  <a:srgbClr val="A30000"/>
                </a:solidFill>
              </a:rPr>
              <a:t> problem</a:t>
            </a:r>
            <a:endParaRPr lang="ru-RU" sz="3600" dirty="0">
              <a:solidFill>
                <a:srgbClr val="A3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837F84-F327-DAFA-0626-16A1395B0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462" y="1032766"/>
            <a:ext cx="8474738" cy="522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10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ru-RU" sz="3600" dirty="0" err="1">
                <a:solidFill>
                  <a:srgbClr val="A30000"/>
                </a:solidFill>
              </a:rPr>
              <a:t>P</a:t>
            </a:r>
            <a:r>
              <a:rPr lang="en-US" sz="3600" dirty="0" err="1">
                <a:solidFill>
                  <a:srgbClr val="A30000"/>
                </a:solidFill>
              </a:rPr>
              <a:t>runing</a:t>
            </a:r>
            <a:endParaRPr lang="ru-RU" sz="3600" dirty="0">
              <a:solidFill>
                <a:srgbClr val="A3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B9A642-0269-C219-EAEA-A780341A4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58" y="1532409"/>
            <a:ext cx="11062382" cy="434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8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ru-RU" sz="3600" dirty="0" err="1">
                <a:solidFill>
                  <a:srgbClr val="A30000"/>
                </a:solidFill>
              </a:rPr>
              <a:t>P</a:t>
            </a:r>
            <a:r>
              <a:rPr lang="en-US" sz="3600" dirty="0" err="1">
                <a:solidFill>
                  <a:srgbClr val="A30000"/>
                </a:solidFill>
              </a:rPr>
              <a:t>runing</a:t>
            </a:r>
            <a:endParaRPr lang="ru-RU" sz="3600" dirty="0">
              <a:solidFill>
                <a:srgbClr val="A3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53AA2F-AB47-BB63-7EAB-117505742376}"/>
                  </a:ext>
                </a:extLst>
              </p:cNvPr>
              <p:cNvSpPr txBox="1"/>
              <p:nvPr/>
            </p:nvSpPr>
            <p:spPr>
              <a:xfrm>
                <a:off x="874713" y="1253569"/>
                <a:ext cx="10413813" cy="4237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b="1" dirty="0"/>
                  <a:t>C</a:t>
                </a:r>
                <a:r>
                  <a:rPr lang="en-US" sz="2400" b="1" dirty="0" err="1"/>
                  <a:t>ost</a:t>
                </a:r>
                <a:r>
                  <a:rPr lang="en-US" sz="2400" b="1" dirty="0"/>
                  <a:t>-complexity pruning</a:t>
                </a:r>
                <a:endParaRPr lang="ru-RU" sz="2400" b="1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количество листьев (сложность)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коэффициент штрафа за сложность (</a:t>
                </a:r>
                <a:r>
                  <a:rPr lang="ru-RU" sz="2400" dirty="0" err="1"/>
                  <a:t>гиперпараметр</a:t>
                </a:r>
                <a:r>
                  <a:rPr lang="ru-RU" sz="2400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Последовательно ищем деревья, для которых соотношение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𝐿𝑜𝑠𝑠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den>
                    </m:f>
                  </m:oMath>
                </a14:m>
                <a:r>
                  <a:rPr lang="ru-RU" sz="2400" dirty="0"/>
                  <a:t> минимально, определяем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53AA2F-AB47-BB63-7EAB-117505742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253569"/>
                <a:ext cx="10413813" cy="4237699"/>
              </a:xfrm>
              <a:prstGeom prst="rect">
                <a:avLst/>
              </a:prstGeom>
              <a:blipFill>
                <a:blip r:embed="rId3"/>
                <a:stretch>
                  <a:fillRect l="-853" b="-23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288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Обработка пропусков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53AA2F-AB47-BB63-7EAB-117505742376}"/>
                  </a:ext>
                </a:extLst>
              </p:cNvPr>
              <p:cNvSpPr txBox="1"/>
              <p:nvPr/>
            </p:nvSpPr>
            <p:spPr>
              <a:xfrm>
                <a:off x="874713" y="1253569"/>
                <a:ext cx="10413813" cy="4237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b="1" dirty="0"/>
                  <a:t>C</a:t>
                </a:r>
                <a:r>
                  <a:rPr lang="en-US" sz="2400" b="1" dirty="0" err="1"/>
                  <a:t>ost</a:t>
                </a:r>
                <a:r>
                  <a:rPr lang="en-US" sz="2400" b="1" dirty="0"/>
                  <a:t>-complexity pruning</a:t>
                </a:r>
                <a:endParaRPr lang="ru-RU" sz="2400" b="1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ru-RU" sz="2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количество листьев (сложность)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/>
                  <a:t> коэффициент штрафа за сложность (</a:t>
                </a:r>
                <a:r>
                  <a:rPr lang="ru-RU" sz="2400" dirty="0" err="1"/>
                  <a:t>гиперпараметр</a:t>
                </a:r>
                <a:r>
                  <a:rPr lang="ru-RU" sz="2400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Последовательно ищем деревья, для которых соотношение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𝐿𝑜𝑠𝑠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den>
                    </m:f>
                  </m:oMath>
                </a14:m>
                <a:r>
                  <a:rPr lang="ru-RU" sz="2400" dirty="0"/>
                  <a:t> минимально, определяем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53AA2F-AB47-BB63-7EAB-117505742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253569"/>
                <a:ext cx="10413813" cy="4237699"/>
              </a:xfrm>
              <a:prstGeom prst="rect">
                <a:avLst/>
              </a:prstGeom>
              <a:blipFill>
                <a:blip r:embed="rId3"/>
                <a:stretch>
                  <a:fillRect l="-853" b="-23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116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 err="1">
                <a:solidFill>
                  <a:srgbClr val="A30000"/>
                </a:solidFill>
              </a:rPr>
              <a:t>А</a:t>
            </a:r>
            <a:r>
              <a:rPr lang="ru-RU" sz="3600" dirty="0" err="1">
                <a:solidFill>
                  <a:srgbClr val="A30000"/>
                </a:solidFill>
              </a:rPr>
              <a:t>лгоритмы</a:t>
            </a:r>
            <a:r>
              <a:rPr lang="ru-RU" sz="3600" dirty="0">
                <a:solidFill>
                  <a:srgbClr val="A30000"/>
                </a:solidFill>
              </a:rPr>
              <a:t> построения деревьев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3DA2281-D115-DB6E-4E0D-AA499A143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157464"/>
              </p:ext>
            </p:extLst>
          </p:nvPr>
        </p:nvGraphicFramePr>
        <p:xfrm>
          <a:off x="1392712" y="2042391"/>
          <a:ext cx="9406575" cy="4043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81315">
                  <a:extLst>
                    <a:ext uri="{9D8B030D-6E8A-4147-A177-3AD203B41FA5}">
                      <a16:colId xmlns:a16="http://schemas.microsoft.com/office/drawing/2014/main" val="2039591820"/>
                    </a:ext>
                  </a:extLst>
                </a:gridCol>
                <a:gridCol w="1881315">
                  <a:extLst>
                    <a:ext uri="{9D8B030D-6E8A-4147-A177-3AD203B41FA5}">
                      <a16:colId xmlns:a16="http://schemas.microsoft.com/office/drawing/2014/main" val="2051105749"/>
                    </a:ext>
                  </a:extLst>
                </a:gridCol>
                <a:gridCol w="1881315">
                  <a:extLst>
                    <a:ext uri="{9D8B030D-6E8A-4147-A177-3AD203B41FA5}">
                      <a16:colId xmlns:a16="http://schemas.microsoft.com/office/drawing/2014/main" val="611873002"/>
                    </a:ext>
                  </a:extLst>
                </a:gridCol>
                <a:gridCol w="1881315">
                  <a:extLst>
                    <a:ext uri="{9D8B030D-6E8A-4147-A177-3AD203B41FA5}">
                      <a16:colId xmlns:a16="http://schemas.microsoft.com/office/drawing/2014/main" val="2772203169"/>
                    </a:ext>
                  </a:extLst>
                </a:gridCol>
                <a:gridCol w="1881315">
                  <a:extLst>
                    <a:ext uri="{9D8B030D-6E8A-4147-A177-3AD203B41FA5}">
                      <a16:colId xmlns:a16="http://schemas.microsoft.com/office/drawing/2014/main" val="304671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I</a:t>
                      </a:r>
                      <a:r>
                        <a:rPr lang="en-US" dirty="0"/>
                        <a:t>D3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C4.5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C5.0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CART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272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Г</a:t>
                      </a:r>
                      <a:r>
                        <a:rPr lang="ru-RU" b="1" dirty="0"/>
                        <a:t>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1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дерева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Многомерное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Многомерное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Многомерное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Бинарное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624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Impurity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Entropy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Entropy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Entropy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Gini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21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/>
                        <a:t>Тип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Категориальные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Категориальные и числовые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Категориальные и числовые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Категориальные и числовые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1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Задача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Классификация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Классификация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Классификация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Классификация и регрессия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160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с пропусками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умеет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Пропускает веса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Умеет обрабатывать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Умеет обрабатывать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53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 err="1"/>
                        <a:t>P</a:t>
                      </a:r>
                      <a:r>
                        <a:rPr lang="en-US" b="1" dirty="0" err="1"/>
                        <a:t>runing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Н</a:t>
                      </a:r>
                      <a:r>
                        <a:rPr lang="ru-RU" dirty="0" err="1"/>
                        <a:t>ет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Error-Based Pruning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F</a:t>
                      </a:r>
                      <a:r>
                        <a:rPr lang="en-US" dirty="0" err="1"/>
                        <a:t>ast</a:t>
                      </a:r>
                      <a:r>
                        <a:rPr lang="en-US" dirty="0"/>
                        <a:t>-pruning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C</a:t>
                      </a:r>
                      <a:r>
                        <a:rPr lang="en-US" dirty="0" err="1"/>
                        <a:t>ost</a:t>
                      </a:r>
                      <a:r>
                        <a:rPr lang="en-US" dirty="0"/>
                        <a:t>-complexity pruning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913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913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3BDF7F77-1536-4706-7C17-725F5D2BD005}"/>
              </a:ext>
            </a:extLst>
          </p:cNvPr>
          <p:cNvSpPr/>
          <p:nvPr/>
        </p:nvSpPr>
        <p:spPr>
          <a:xfrm>
            <a:off x="0" y="1"/>
            <a:ext cx="12192000" cy="935182"/>
          </a:xfrm>
          <a:prstGeom prst="roundRect">
            <a:avLst>
              <a:gd name="adj" fmla="val 0"/>
            </a:avLst>
          </a:prstGeom>
          <a:solidFill>
            <a:srgbClr val="D9D9D9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>
                <a:solidFill>
                  <a:srgbClr val="A30000"/>
                </a:solidFill>
              </a:rPr>
              <a:t>	</a:t>
            </a:r>
            <a:r>
              <a:rPr lang="en-US" sz="3600" dirty="0">
                <a:solidFill>
                  <a:srgbClr val="A30000"/>
                </a:solidFill>
              </a:rPr>
              <a:t>Feature importance</a:t>
            </a:r>
            <a:endParaRPr lang="ru-RU" sz="3600" dirty="0">
              <a:solidFill>
                <a:srgbClr val="A30000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AB69A18-95D7-566A-27EB-61A15AE26A11}"/>
              </a:ext>
            </a:extLst>
          </p:cNvPr>
          <p:cNvGraphicFramePr>
            <a:graphicFrameLocks noGrp="1"/>
          </p:cNvGraphicFramePr>
          <p:nvPr/>
        </p:nvGraphicFramePr>
        <p:xfrm>
          <a:off x="0" y="6487160"/>
          <a:ext cx="1219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71284022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124228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245375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/>
                        <a:t>Машин Иван (РАНХиГС)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Decision trees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A30000"/>
                          </a:solidFill>
                        </a:rPr>
                        <a:t>2026</a:t>
                      </a:r>
                      <a:endParaRPr lang="ru-RU" b="0" dirty="0">
                        <a:solidFill>
                          <a:srgbClr val="A3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7978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784BD-B0A5-0ED2-50E2-1E325A01063B}"/>
                  </a:ext>
                </a:extLst>
              </p:cNvPr>
              <p:cNvSpPr txBox="1"/>
              <p:nvPr/>
            </p:nvSpPr>
            <p:spPr>
              <a:xfrm>
                <a:off x="874713" y="1131234"/>
                <a:ext cx="10715604" cy="5159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На каждом шаге разбиения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𝑠𝑝𝑙𝑖𝑡</m:t>
                    </m:r>
                  </m:oMath>
                </a14:m>
                <a:r>
                  <a:rPr lang="ru-RU" sz="2400" dirty="0"/>
                  <a:t>) мы считаем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𝐼𝐺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sz="2400" dirty="0"/>
                  <a:t>information gain</a:t>
                </a:r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𝐼𝑚𝑝𝑜𝑟𝑡𝑎𝑛𝑐𝑒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𝑛𝑜𝑑𝑒𝑠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𝐼𝐺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𝑎𝑙𝑙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𝑛𝑜𝑑𝑒𝑠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𝐼𝐺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𝐼𝑚𝑝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𝐼𝑚𝑝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=1..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Что это дает?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Интерпретируемость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en-US" sz="2400" dirty="0"/>
                  <a:t>Feature selection</a:t>
                </a:r>
                <a:endParaRPr lang="ru-RU" sz="2400" dirty="0"/>
              </a:p>
              <a:p>
                <a:pPr>
                  <a:lnSpc>
                    <a:spcPct val="150000"/>
                  </a:lnSpc>
                  <a:buClr>
                    <a:srgbClr val="A30000"/>
                  </a:buClr>
                </a:pPr>
                <a:r>
                  <a:rPr lang="ru-RU" sz="2400" dirty="0"/>
                  <a:t>Проблемы: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Смещение в сторону высокой кардинальности (</a:t>
                </a:r>
                <a:r>
                  <a:rPr lang="en-US" sz="2400" dirty="0"/>
                  <a:t>ID </a:t>
                </a:r>
                <a:r>
                  <a:rPr lang="ru-RU" sz="2400" dirty="0"/>
                  <a:t>становится самым важным)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A30000"/>
                  </a:buClr>
                  <a:buFont typeface="Wingdings" pitchFamily="2" charset="2"/>
                  <a:buChar char="§"/>
                </a:pPr>
                <a:r>
                  <a:rPr lang="ru-RU" sz="2400" dirty="0"/>
                  <a:t>Коррелирующие признаки (</a:t>
                </a:r>
                <a:r>
                  <a:rPr lang="en-US" sz="2400" dirty="0"/>
                  <a:t>importance </a:t>
                </a:r>
                <a:r>
                  <a:rPr lang="ru-RU" sz="2400" dirty="0"/>
                  <a:t>распределяется между ними и падает)</a:t>
                </a:r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1784BD-B0A5-0ED2-50E2-1E325A01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3" y="1131234"/>
                <a:ext cx="10715604" cy="5159874"/>
              </a:xfrm>
              <a:prstGeom prst="rect">
                <a:avLst/>
              </a:prstGeom>
              <a:blipFill>
                <a:blip r:embed="rId3"/>
                <a:stretch>
                  <a:fillRect l="-828" r="-118" b="-17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7512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20192</TotalTime>
  <Words>857</Words>
  <Application>Microsoft Macintosh PowerPoint</Application>
  <PresentationFormat>Широкоэкранный</PresentationFormat>
  <Paragraphs>259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Машин Иван Сергеевич</dc:creator>
  <cp:lastModifiedBy>Машин Иван Сергеевич</cp:lastModifiedBy>
  <cp:revision>419</cp:revision>
  <dcterms:created xsi:type="dcterms:W3CDTF">2026-01-13T18:05:14Z</dcterms:created>
  <dcterms:modified xsi:type="dcterms:W3CDTF">2026-03-02T14:21:33Z</dcterms:modified>
</cp:coreProperties>
</file>